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9"/>
  </p:notesMasterIdLst>
  <p:sldIdLst>
    <p:sldId id="256" r:id="rId2"/>
    <p:sldId id="257" r:id="rId3"/>
    <p:sldId id="259" r:id="rId4"/>
    <p:sldId id="260" r:id="rId5"/>
    <p:sldId id="282" r:id="rId6"/>
    <p:sldId id="284" r:id="rId7"/>
    <p:sldId id="283" r:id="rId8"/>
    <p:sldId id="261" r:id="rId9"/>
    <p:sldId id="262" r:id="rId10"/>
    <p:sldId id="290" r:id="rId11"/>
    <p:sldId id="291" r:id="rId12"/>
    <p:sldId id="289" r:id="rId13"/>
    <p:sldId id="292" r:id="rId14"/>
    <p:sldId id="293" r:id="rId15"/>
    <p:sldId id="294" r:id="rId16"/>
    <p:sldId id="295" r:id="rId17"/>
    <p:sldId id="264" r:id="rId18"/>
    <p:sldId id="298" r:id="rId19"/>
    <p:sldId id="299" r:id="rId20"/>
    <p:sldId id="297" r:id="rId21"/>
    <p:sldId id="306" r:id="rId22"/>
    <p:sldId id="300" r:id="rId23"/>
    <p:sldId id="307" r:id="rId24"/>
    <p:sldId id="301" r:id="rId25"/>
    <p:sldId id="302" r:id="rId26"/>
    <p:sldId id="308" r:id="rId27"/>
    <p:sldId id="309" r:id="rId28"/>
    <p:sldId id="303" r:id="rId29"/>
    <p:sldId id="310" r:id="rId30"/>
    <p:sldId id="311" r:id="rId31"/>
    <p:sldId id="312" r:id="rId32"/>
    <p:sldId id="304" r:id="rId33"/>
    <p:sldId id="305" r:id="rId34"/>
    <p:sldId id="275" r:id="rId35"/>
    <p:sldId id="276" r:id="rId36"/>
    <p:sldId id="296" r:id="rId37"/>
    <p:sldId id="281" r:id="rId38"/>
  </p:sldIdLst>
  <p:sldSz cx="9144000" cy="5143500" type="screen16x9"/>
  <p:notesSz cx="6858000" cy="9144000"/>
  <p:embeddedFontLs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Raleway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87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19e37ed3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19e37ed3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19e37ed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19e37ed3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19e37ed3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19e37ed3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19e37ed3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19e37ed3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19e37ed3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19e37ed3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719e37ed3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719e37ed3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719e37ed37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719e37ed37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19e37ed37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19e37ed37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719e37ed37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719e37ed37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accent6"/>
                </a:solidFill>
              </a:rPr>
              <a:t>“</a:t>
            </a:r>
            <a:endParaRPr sz="9600" b="1">
              <a:solidFill>
                <a:schemeClr val="accent6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>
                <a:solidFill>
                  <a:schemeClr val="dk1"/>
                </a:solidFill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893700" y="4649963"/>
            <a:ext cx="6462600" cy="35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 background">
  <p:cSld name="BLANK_1">
    <p:bg>
      <p:bgPr>
        <a:solidFill>
          <a:schemeClr val="accen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 idx="4294967295"/>
          </p:nvPr>
        </p:nvSpPr>
        <p:spPr>
          <a:xfrm>
            <a:off x="2015725" y="69013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Nhóm</a:t>
            </a:r>
            <a:r>
              <a:rPr lang="en-US" sz="2400" b="1" dirty="0">
                <a:solidFill>
                  <a:schemeClr val="dk1"/>
                </a:solidFill>
              </a:rPr>
              <a:t> 8: </a:t>
            </a:r>
            <a:r>
              <a:rPr lang="en-US" sz="2400" b="1" dirty="0" err="1">
                <a:solidFill>
                  <a:schemeClr val="dk1"/>
                </a:solidFill>
              </a:rPr>
              <a:t>TheGroundUP</a:t>
            </a:r>
            <a:endParaRPr sz="2400" b="1" dirty="0">
              <a:solidFill>
                <a:schemeClr val="dk1"/>
              </a:solidFill>
            </a:endParaRPr>
          </a:p>
        </p:txBody>
      </p:sp>
      <p:sp>
        <p:nvSpPr>
          <p:cNvPr id="91" name="Google Shape;91;p12"/>
          <p:cNvSpPr txBox="1">
            <a:spLocks noGrp="1"/>
          </p:cNvSpPr>
          <p:nvPr>
            <p:ph type="ctrTitle"/>
          </p:nvPr>
        </p:nvSpPr>
        <p:spPr>
          <a:xfrm>
            <a:off x="492825" y="2762725"/>
            <a:ext cx="7085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Phân tích kết quả học tập của học sinh 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Nhiệm vụ:</a:t>
            </a:r>
            <a:endParaRPr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1"/>
          </p:nvPr>
        </p:nvSpPr>
        <p:spPr>
          <a:xfrm>
            <a:off x="580350" y="1111400"/>
            <a:ext cx="7983300" cy="20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số</a:t>
            </a:r>
            <a:r>
              <a:rPr lang="en-US" sz="1800" dirty="0"/>
              <a:t> </a:t>
            </a:r>
            <a:r>
              <a:rPr lang="en-US" sz="1800" dirty="0" err="1"/>
              <a:t>tín</a:t>
            </a:r>
            <a:r>
              <a:rPr lang="en-US" sz="1800" dirty="0"/>
              <a:t> </a:t>
            </a:r>
            <a:r>
              <a:rPr lang="en-US" sz="1800" dirty="0" err="1"/>
              <a:t>chỉ</a:t>
            </a:r>
            <a:r>
              <a:rPr lang="en-US" sz="1800" dirty="0"/>
              <a:t> </a:t>
            </a:r>
            <a:r>
              <a:rPr lang="en-US" sz="1800" dirty="0" err="1"/>
              <a:t>hoàn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bạn</a:t>
            </a:r>
            <a:r>
              <a:rPr lang="en-US" sz="1800" dirty="0"/>
              <a:t>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sinh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lịch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tập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kỳ</a:t>
            </a:r>
            <a:r>
              <a:rPr lang="en-US" sz="1800" dirty="0"/>
              <a:t> </a:t>
            </a:r>
            <a:r>
              <a:rPr lang="en-US" sz="1800" dirty="0" err="1"/>
              <a:t>trước</a:t>
            </a:r>
            <a:r>
              <a:rPr lang="en-US" sz="1800" dirty="0"/>
              <a:t>.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-US" sz="1800" dirty="0"/>
              <a:t>Lau </a:t>
            </a:r>
            <a:r>
              <a:rPr lang="en-US" sz="1800" dirty="0" err="1"/>
              <a:t>dọn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, 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 sz="1800" dirty="0"/>
              <a:t>In each competition, skaters perform a </a:t>
            </a:r>
            <a:r>
              <a:rPr lang="en" sz="1800" b="1" dirty="0"/>
              <a:t>short program</a:t>
            </a:r>
            <a:r>
              <a:rPr lang="en" sz="1800" dirty="0"/>
              <a:t> and a </a:t>
            </a:r>
            <a:r>
              <a:rPr lang="en" sz="1800" b="1" dirty="0"/>
              <a:t>long program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 sz="1800" dirty="0"/>
              <a:t>Final score is a combination of short and long program scores</a:t>
            </a:r>
            <a:endParaRPr sz="18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 sz="1800" b="1" dirty="0"/>
              <a:t>Nine judges </a:t>
            </a:r>
            <a:r>
              <a:rPr lang="en" sz="1800" dirty="0"/>
              <a:t>of different nationalities score each program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▷"/>
            </a:pPr>
            <a:r>
              <a:rPr lang="en" sz="1800" dirty="0"/>
              <a:t>Focused on </a:t>
            </a:r>
            <a:r>
              <a:rPr lang="en" sz="1800" b="1" dirty="0"/>
              <a:t>senior-level singles disciplines</a:t>
            </a:r>
            <a:endParaRPr sz="1800" dirty="0"/>
          </a:p>
        </p:txBody>
      </p:sp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ctrTitle"/>
          </p:nvPr>
        </p:nvSpPr>
        <p:spPr>
          <a:xfrm>
            <a:off x="685800" y="19918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1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THU TẬP DATA</a:t>
            </a:r>
            <a:endParaRPr dirty="0"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752027" y="4054789"/>
            <a:ext cx="2377276" cy="8813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800" dirty="0"/>
              <a:t>Hồ sơ điểm học sinh</a:t>
            </a:r>
            <a:endParaRPr sz="1800" b="1" dirty="0"/>
          </a:p>
        </p:txBody>
      </p:sp>
      <p:sp>
        <p:nvSpPr>
          <p:cNvPr id="123" name="Google Shape;123;p16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51B3A-70FE-D69D-542E-4C53E83DC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92" y="520884"/>
            <a:ext cx="2751946" cy="3378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2B3C1D-7A24-B4A0-03C3-20CF3E247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057" y="520884"/>
            <a:ext cx="3484518" cy="3378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Google Shape;122;p16">
            <a:extLst>
              <a:ext uri="{FF2B5EF4-FFF2-40B4-BE49-F238E27FC236}">
                <a16:creationId xmlns:a16="http://schemas.microsoft.com/office/drawing/2014/main" id="{EF001773-5D39-7117-23BA-23327F574848}"/>
              </a:ext>
            </a:extLst>
          </p:cNvPr>
          <p:cNvSpPr txBox="1">
            <a:spLocks/>
          </p:cNvSpPr>
          <p:nvPr/>
        </p:nvSpPr>
        <p:spPr>
          <a:xfrm>
            <a:off x="5663333" y="4054188"/>
            <a:ext cx="2377276" cy="88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800" dirty="0" err="1"/>
              <a:t>Điểm</a:t>
            </a:r>
            <a:r>
              <a:rPr lang="en-US" sz="1800" dirty="0"/>
              <a:t> </a:t>
            </a:r>
            <a:r>
              <a:rPr lang="en-US" sz="1800" dirty="0" err="1"/>
              <a:t>thi</a:t>
            </a:r>
            <a:r>
              <a:rPr lang="en-US" sz="1800" dirty="0"/>
              <a:t> </a:t>
            </a:r>
            <a:r>
              <a:rPr lang="en-US" sz="1800" dirty="0" err="1"/>
              <a:t>đầu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endParaRPr lang="vi-V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7F970-F5A3-DC04-A34D-39420D9FF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Google Shape;122;p16">
            <a:extLst>
              <a:ext uri="{FF2B5EF4-FFF2-40B4-BE49-F238E27FC236}">
                <a16:creationId xmlns:a16="http://schemas.microsoft.com/office/drawing/2014/main" id="{17D9C816-BB5F-B02C-D1F9-43D4D2CEF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8529" y="3972362"/>
            <a:ext cx="7146942" cy="8813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800" dirty="0"/>
              <a:t>Nhiệm vụ: tìm số tín chỉ hoàn thành của học sinh kỳ tiếp theo</a:t>
            </a:r>
            <a:endParaRPr sz="1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1E657-CE31-D6FF-8E30-42593F9B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287" y="362963"/>
            <a:ext cx="1815269" cy="35523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6196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DFFC1-8975-C333-E19F-3181E51ECB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5" name="Google Shape;129;p17">
            <a:extLst>
              <a:ext uri="{FF2B5EF4-FFF2-40B4-BE49-F238E27FC236}">
                <a16:creationId xmlns:a16="http://schemas.microsoft.com/office/drawing/2014/main" id="{7F2FDAE8-CD3C-1B7D-8119-B6F1BC5B1272}"/>
              </a:ext>
            </a:extLst>
          </p:cNvPr>
          <p:cNvSpPr txBox="1">
            <a:spLocks/>
          </p:cNvSpPr>
          <p:nvPr/>
        </p:nvSpPr>
        <p:spPr>
          <a:xfrm>
            <a:off x="685800" y="2261856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aleway"/>
              <a:buNone/>
              <a:defRPr sz="48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7200" dirty="0">
                <a:solidFill>
                  <a:schemeClr val="accent2"/>
                </a:solidFill>
              </a:rPr>
              <a:t>2</a:t>
            </a:r>
          </a:p>
          <a:p>
            <a:r>
              <a:rPr lang="en-US" dirty="0"/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3558276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0E127-A485-C093-1141-016C1E525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5" name="Google Shape;144;p19">
            <a:extLst>
              <a:ext uri="{FF2B5EF4-FFF2-40B4-BE49-F238E27FC236}">
                <a16:creationId xmlns:a16="http://schemas.microsoft.com/office/drawing/2014/main" id="{F6DFE600-C8D8-17C2-B948-E0536257F9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75" y="423620"/>
            <a:ext cx="1858180" cy="1952787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500" b="1" dirty="0"/>
              <a:t>Standard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math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os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gc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warnings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io (via </a:t>
            </a:r>
            <a:r>
              <a:rPr lang="en-US" sz="1000" dirty="0" err="1"/>
              <a:t>StringIO</a:t>
            </a:r>
            <a:r>
              <a:rPr lang="en-US" sz="1000" dirty="0"/>
              <a:t>)</a:t>
            </a:r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sz="1000" dirty="0"/>
          </a:p>
          <a:p>
            <a:pPr marL="114300" lvl="0" indent="0" algn="l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sz="10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000" dirty="0"/>
          </a:p>
        </p:txBody>
      </p:sp>
      <p:sp>
        <p:nvSpPr>
          <p:cNvPr id="2" name="Google Shape;144;p19">
            <a:extLst>
              <a:ext uri="{FF2B5EF4-FFF2-40B4-BE49-F238E27FC236}">
                <a16:creationId xmlns:a16="http://schemas.microsoft.com/office/drawing/2014/main" id="{231F0E68-F8DC-652E-EBFE-691B6824E713}"/>
              </a:ext>
            </a:extLst>
          </p:cNvPr>
          <p:cNvSpPr txBox="1">
            <a:spLocks/>
          </p:cNvSpPr>
          <p:nvPr/>
        </p:nvSpPr>
        <p:spPr>
          <a:xfrm>
            <a:off x="349365" y="2706069"/>
            <a:ext cx="3875542" cy="2181063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None/>
            </a:pPr>
            <a:r>
              <a:rPr lang="en-US" sz="1500" b="1" dirty="0" err="1"/>
              <a:t>Trực</a:t>
            </a:r>
            <a:r>
              <a:rPr lang="en-US" sz="1500" b="1" dirty="0"/>
              <a:t> </a:t>
            </a:r>
            <a:r>
              <a:rPr lang="en-US" sz="1500" b="1" dirty="0" err="1"/>
              <a:t>quan</a:t>
            </a:r>
            <a:r>
              <a:rPr lang="en-US" sz="1500" b="1" dirty="0"/>
              <a:t> </a:t>
            </a:r>
            <a:r>
              <a:rPr lang="en-US" sz="1500" b="1" dirty="0" err="1"/>
              <a:t>hóa</a:t>
            </a:r>
            <a:r>
              <a:rPr lang="en-US" sz="1500" b="1" dirty="0"/>
              <a:t> &amp; </a:t>
            </a:r>
            <a:r>
              <a:rPr lang="en-US" sz="1500" b="1" dirty="0" err="1"/>
              <a:t>phân</a:t>
            </a:r>
            <a:r>
              <a:rPr lang="en-US" sz="1500" b="1" dirty="0"/>
              <a:t> </a:t>
            </a:r>
            <a:r>
              <a:rPr lang="en-US" sz="1500" b="1" dirty="0" err="1"/>
              <a:t>tích</a:t>
            </a:r>
            <a:r>
              <a:rPr lang="en-US" sz="1500" b="1" dirty="0"/>
              <a:t> </a:t>
            </a:r>
            <a:r>
              <a:rPr lang="en-US" sz="1500" b="1" dirty="0" err="1"/>
              <a:t>dữ</a:t>
            </a:r>
            <a:r>
              <a:rPr lang="en-US" sz="1500" b="1" dirty="0"/>
              <a:t> </a:t>
            </a:r>
            <a:r>
              <a:rPr lang="en-US" sz="1500" b="1" dirty="0" err="1"/>
              <a:t>liệu</a:t>
            </a:r>
            <a:r>
              <a:rPr lang="en-US" sz="1500" b="1" dirty="0"/>
              <a:t> (EDA)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seaborn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plotly.express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plotly.graph_objects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plotly.subplots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missingno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pygwalker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14300" indent="0">
              <a:buFont typeface="Lato"/>
              <a:buNone/>
            </a:pPr>
            <a:endParaRPr lang="en-US" sz="1000" dirty="0"/>
          </a:p>
          <a:p>
            <a:pPr marL="114300" indent="0">
              <a:buFont typeface="Lato"/>
              <a:buNone/>
            </a:pPr>
            <a:endParaRPr lang="en-US" sz="1000" dirty="0"/>
          </a:p>
          <a:p>
            <a:endParaRPr lang="en-US" sz="1000"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4852E882-E28E-0101-AB3F-103386738164}"/>
              </a:ext>
            </a:extLst>
          </p:cNvPr>
          <p:cNvSpPr txBox="1">
            <a:spLocks/>
          </p:cNvSpPr>
          <p:nvPr/>
        </p:nvSpPr>
        <p:spPr>
          <a:xfrm>
            <a:off x="3429325" y="423620"/>
            <a:ext cx="2501359" cy="195278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None/>
            </a:pPr>
            <a:r>
              <a:rPr lang="en-US" sz="1500" b="1" dirty="0" err="1"/>
              <a:t>Xử</a:t>
            </a:r>
            <a:r>
              <a:rPr lang="en-US" sz="1500" b="1" dirty="0"/>
              <a:t> </a:t>
            </a:r>
            <a:r>
              <a:rPr lang="en-US" sz="1500" b="1" dirty="0" err="1"/>
              <a:t>lý</a:t>
            </a:r>
            <a:r>
              <a:rPr lang="en-US" sz="1500" b="1" dirty="0"/>
              <a:t> </a:t>
            </a:r>
            <a:r>
              <a:rPr lang="en-US" sz="1500" b="1" dirty="0" err="1"/>
              <a:t>dữ</a:t>
            </a:r>
            <a:r>
              <a:rPr lang="en-US" sz="1500" b="1" dirty="0"/>
              <a:t> </a:t>
            </a:r>
            <a:r>
              <a:rPr lang="en-US" sz="1500" b="1" dirty="0" err="1"/>
              <a:t>liệu</a:t>
            </a:r>
            <a:r>
              <a:rPr lang="en-US" sz="1500" b="1" dirty="0"/>
              <a:t> &amp; </a:t>
            </a:r>
            <a:r>
              <a:rPr lang="en-US" sz="1500" b="1" dirty="0" err="1"/>
              <a:t>tiện</a:t>
            </a:r>
            <a:r>
              <a:rPr lang="en-US" sz="1500" b="1" dirty="0"/>
              <a:t> </a:t>
            </a:r>
            <a:r>
              <a:rPr lang="en-US" sz="1500" b="1" dirty="0" err="1"/>
              <a:t>ích</a:t>
            </a:r>
            <a:endParaRPr lang="en-US" sz="1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numpy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joblib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urllib3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14300" indent="0">
              <a:buFont typeface="Lato"/>
              <a:buNone/>
            </a:pPr>
            <a:endParaRPr lang="en-US" sz="1000" dirty="0"/>
          </a:p>
          <a:p>
            <a:pPr marL="114300" indent="0">
              <a:buFont typeface="Lato"/>
              <a:buNone/>
            </a:pPr>
            <a:endParaRPr lang="en-US" sz="1000" dirty="0"/>
          </a:p>
          <a:p>
            <a:endParaRPr lang="en-US" sz="1000" dirty="0"/>
          </a:p>
        </p:txBody>
      </p:sp>
      <p:sp>
        <p:nvSpPr>
          <p:cNvPr id="6" name="Google Shape;144;p19">
            <a:extLst>
              <a:ext uri="{FF2B5EF4-FFF2-40B4-BE49-F238E27FC236}">
                <a16:creationId xmlns:a16="http://schemas.microsoft.com/office/drawing/2014/main" id="{228DEFC7-5A0D-6F4D-B683-F5FF10AC78FD}"/>
              </a:ext>
            </a:extLst>
          </p:cNvPr>
          <p:cNvSpPr txBox="1">
            <a:spLocks/>
          </p:cNvSpPr>
          <p:nvPr/>
        </p:nvSpPr>
        <p:spPr>
          <a:xfrm>
            <a:off x="6673639" y="423619"/>
            <a:ext cx="1858180" cy="1952787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Font typeface="Lato"/>
              <a:buNone/>
            </a:pPr>
            <a:r>
              <a:rPr lang="en-US" sz="1500" b="1" dirty="0"/>
              <a:t>Standard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math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os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 err="1"/>
              <a:t>gc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warnings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io (via </a:t>
            </a:r>
            <a:r>
              <a:rPr lang="en-US" sz="1000" dirty="0" err="1"/>
              <a:t>StringIO</a:t>
            </a:r>
            <a:r>
              <a:rPr lang="en-US" sz="1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14300" indent="0">
              <a:buFont typeface="Lato"/>
              <a:buNone/>
            </a:pPr>
            <a:endParaRPr lang="en-US" sz="1000" dirty="0"/>
          </a:p>
          <a:p>
            <a:pPr marL="114300" indent="0">
              <a:buFont typeface="Lato"/>
              <a:buNone/>
            </a:pP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601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ctrTitle"/>
          </p:nvPr>
        </p:nvSpPr>
        <p:spPr>
          <a:xfrm>
            <a:off x="685800" y="19918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CLEANING/FIXING</a:t>
            </a:r>
            <a:endParaRPr dirty="0"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6" name="Google Shape;144;p19">
            <a:extLst>
              <a:ext uri="{FF2B5EF4-FFF2-40B4-BE49-F238E27FC236}">
                <a16:creationId xmlns:a16="http://schemas.microsoft.com/office/drawing/2014/main" id="{7BE769BA-F003-0211-522C-A7AA4C13C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08421" y="3783411"/>
            <a:ext cx="2445531" cy="568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200" i="1" dirty="0" err="1"/>
              <a:t>Kiểm</a:t>
            </a:r>
            <a:r>
              <a:rPr lang="en-US" sz="1200" i="1" dirty="0"/>
              <a:t> </a:t>
            </a:r>
            <a:r>
              <a:rPr lang="en-US" sz="1200" i="1" dirty="0" err="1"/>
              <a:t>tra</a:t>
            </a:r>
            <a:r>
              <a:rPr lang="en-US" sz="1200" i="1" dirty="0"/>
              <a:t> </a:t>
            </a:r>
            <a:r>
              <a:rPr lang="en-US" sz="1200" i="1" dirty="0" err="1"/>
              <a:t>các</a:t>
            </a:r>
            <a:r>
              <a:rPr lang="en-US" sz="1200" i="1" dirty="0"/>
              <a:t> </a:t>
            </a:r>
            <a:r>
              <a:rPr lang="en-US" sz="1200" i="1" dirty="0" err="1"/>
              <a:t>dòng</a:t>
            </a:r>
            <a:r>
              <a:rPr lang="en-US" sz="1200" i="1" dirty="0"/>
              <a:t> </a:t>
            </a:r>
            <a:r>
              <a:rPr lang="en-US" sz="1200" i="1" dirty="0" err="1"/>
              <a:t>bị</a:t>
            </a:r>
            <a:r>
              <a:rPr lang="en-US" sz="1200" i="1" dirty="0"/>
              <a:t> </a:t>
            </a:r>
            <a:r>
              <a:rPr lang="en-US" sz="1200" i="1" dirty="0" err="1"/>
              <a:t>lặp</a:t>
            </a:r>
            <a:r>
              <a:rPr lang="en-US" sz="1200" i="1" dirty="0"/>
              <a:t> </a:t>
            </a:r>
            <a:r>
              <a:rPr lang="en-US" sz="1200" i="1" dirty="0" err="1"/>
              <a:t>lại</a:t>
            </a:r>
            <a:endParaRPr lang="en-US" sz="1200" i="1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  <p:sp>
        <p:nvSpPr>
          <p:cNvPr id="4" name="Google Shape;144;p19">
            <a:extLst>
              <a:ext uri="{FF2B5EF4-FFF2-40B4-BE49-F238E27FC236}">
                <a16:creationId xmlns:a16="http://schemas.microsoft.com/office/drawing/2014/main" id="{4D7D5A09-0BC2-58A0-E2B6-639CE3132913}"/>
              </a:ext>
            </a:extLst>
          </p:cNvPr>
          <p:cNvSpPr txBox="1">
            <a:spLocks/>
          </p:cNvSpPr>
          <p:nvPr/>
        </p:nvSpPr>
        <p:spPr>
          <a:xfrm>
            <a:off x="665162" y="1143371"/>
            <a:ext cx="3906838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Font typeface="Lato"/>
              <a:buNone/>
            </a:pPr>
            <a:endParaRPr lang="en-US" sz="1800" dirty="0"/>
          </a:p>
          <a:p>
            <a:r>
              <a:rPr lang="en-US" sz="1800" dirty="0" err="1"/>
              <a:t>Có</a:t>
            </a:r>
            <a:r>
              <a:rPr lang="en-US" sz="1800" dirty="0"/>
              <a:t> 920 </a:t>
            </a:r>
            <a:r>
              <a:rPr lang="en-US" sz="1800" dirty="0" err="1"/>
              <a:t>dòng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trùng</a:t>
            </a:r>
            <a:r>
              <a:rPr lang="en-US" sz="1800" dirty="0"/>
              <a:t> id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kỳ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tập</a:t>
            </a:r>
            <a:r>
              <a:rPr lang="en-US" sz="1800" dirty="0"/>
              <a:t> academic_records.csv</a:t>
            </a:r>
          </a:p>
          <a:p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phải</a:t>
            </a:r>
            <a:r>
              <a:rPr lang="en-US" sz="1800" dirty="0"/>
              <a:t> check </a:t>
            </a:r>
            <a:r>
              <a:rPr lang="en-US" sz="1800" dirty="0" err="1"/>
              <a:t>chất</a:t>
            </a:r>
            <a:r>
              <a:rPr lang="en-US" sz="1800" dirty="0"/>
              <a:t> </a:t>
            </a:r>
            <a:r>
              <a:rPr lang="en-US" sz="1800" dirty="0" err="1"/>
              <a:t>lượng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file.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0D6E76-026D-8A35-0737-2BD9A9C9C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235" y="931560"/>
            <a:ext cx="3406415" cy="2652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Google Shape;156;p21">
            <a:extLst>
              <a:ext uri="{FF2B5EF4-FFF2-40B4-BE49-F238E27FC236}">
                <a16:creationId xmlns:a16="http://schemas.microsoft.com/office/drawing/2014/main" id="{1F57F45F-B896-88A9-AE39-FA3A5019B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Cleaning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9A25E-781C-CE18-8F84-7DE081D393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AA434-70CA-3C99-9320-1A2D1956B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16" y="390496"/>
            <a:ext cx="8126375" cy="33929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5C439E46-67A2-EF23-FE3D-E682F982D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95852" y="3956037"/>
            <a:ext cx="2445531" cy="568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200" i="1" dirty="0" err="1"/>
              <a:t>Bảng</a:t>
            </a:r>
            <a:r>
              <a:rPr lang="en-US" sz="1200" i="1" dirty="0"/>
              <a:t> </a:t>
            </a:r>
            <a:r>
              <a:rPr lang="en-US" sz="1200" i="1" dirty="0" err="1"/>
              <a:t>thống</a:t>
            </a:r>
            <a:r>
              <a:rPr lang="en-US" sz="1200" i="1" dirty="0"/>
              <a:t> </a:t>
            </a:r>
            <a:r>
              <a:rPr lang="en-US" sz="1200" i="1" dirty="0" err="1"/>
              <a:t>kê</a:t>
            </a:r>
            <a:r>
              <a:rPr lang="en-US" sz="1200" i="1" dirty="0"/>
              <a:t> 920 </a:t>
            </a:r>
            <a:r>
              <a:rPr lang="en-US" sz="1200" i="1" dirty="0" err="1"/>
              <a:t>dòng</a:t>
            </a:r>
            <a:r>
              <a:rPr lang="en-US" sz="1200" i="1" dirty="0"/>
              <a:t> </a:t>
            </a:r>
            <a:r>
              <a:rPr lang="en-US" sz="1200" i="1" dirty="0" err="1"/>
              <a:t>bị</a:t>
            </a:r>
            <a:r>
              <a:rPr lang="en-US" sz="1200" i="1" dirty="0"/>
              <a:t> </a:t>
            </a:r>
            <a:r>
              <a:rPr lang="en-US" sz="1200" i="1" dirty="0" err="1"/>
              <a:t>lặp</a:t>
            </a:r>
            <a:endParaRPr lang="en-US" sz="1200" i="1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00554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25AF9-4D0A-85A1-3132-328C4874B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6" name="Google Shape;156;p21">
            <a:extLst>
              <a:ext uri="{FF2B5EF4-FFF2-40B4-BE49-F238E27FC236}">
                <a16:creationId xmlns:a16="http://schemas.microsoft.com/office/drawing/2014/main" id="{C3FDB8E4-A2DB-30D7-8AC9-7C50329A4F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Findings</a:t>
            </a:r>
            <a:endParaRPr dirty="0"/>
          </a:p>
        </p:txBody>
      </p:sp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E5425F54-4B8D-E730-7CEC-ED526F6237D3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Font typeface="Lato"/>
              <a:buNone/>
            </a:pPr>
            <a:endParaRPr lang="en-US" sz="1800" dirty="0"/>
          </a:p>
          <a:p>
            <a:r>
              <a:rPr lang="en-US" sz="1500" dirty="0" err="1"/>
              <a:t>Phát</a:t>
            </a:r>
            <a:r>
              <a:rPr lang="en-US" sz="1500" dirty="0"/>
              <a:t> </a:t>
            </a:r>
            <a:r>
              <a:rPr lang="en-US" sz="1500" dirty="0" err="1"/>
              <a:t>hiện</a:t>
            </a:r>
            <a:r>
              <a:rPr lang="en-US" sz="1500" dirty="0"/>
              <a:t>: </a:t>
            </a:r>
            <a:r>
              <a:rPr lang="en-US" sz="1500" dirty="0" err="1"/>
              <a:t>Số</a:t>
            </a:r>
            <a:r>
              <a:rPr lang="en-US" sz="1500" dirty="0"/>
              <a:t> </a:t>
            </a:r>
            <a:r>
              <a:rPr lang="en-US" sz="1500" dirty="0" err="1"/>
              <a:t>lượng</a:t>
            </a:r>
            <a:r>
              <a:rPr lang="en-US" sz="1500" dirty="0"/>
              <a:t> </a:t>
            </a:r>
            <a:r>
              <a:rPr lang="en-US" sz="1500" dirty="0" err="1"/>
              <a:t>lặp</a:t>
            </a:r>
            <a:r>
              <a:rPr lang="en-US" sz="1500" dirty="0"/>
              <a:t> </a:t>
            </a:r>
            <a:r>
              <a:rPr lang="en-US" sz="1500" dirty="0" err="1"/>
              <a:t>nhiều</a:t>
            </a:r>
            <a:r>
              <a:rPr lang="en-US" sz="1500" dirty="0"/>
              <a:t> </a:t>
            </a:r>
            <a:r>
              <a:rPr lang="en-US" sz="1500" dirty="0" err="1"/>
              <a:t>nhất</a:t>
            </a:r>
            <a:r>
              <a:rPr lang="en-US" sz="1500" dirty="0"/>
              <a:t> </a:t>
            </a:r>
            <a:r>
              <a:rPr lang="en-US" sz="1500" dirty="0" err="1"/>
              <a:t>chỉ</a:t>
            </a:r>
            <a:r>
              <a:rPr lang="en-US" sz="1500" dirty="0"/>
              <a:t> </a:t>
            </a:r>
            <a:r>
              <a:rPr lang="en-US" sz="1500" dirty="0" err="1"/>
              <a:t>là</a:t>
            </a:r>
            <a:r>
              <a:rPr lang="en-US" sz="1500" dirty="0"/>
              <a:t> 2, do head </a:t>
            </a:r>
            <a:r>
              <a:rPr lang="en-US" sz="1500" dirty="0" err="1"/>
              <a:t>và</a:t>
            </a:r>
            <a:r>
              <a:rPr lang="en-US" sz="1500" dirty="0"/>
              <a:t> tail </a:t>
            </a:r>
            <a:r>
              <a:rPr lang="en-US" sz="1500" dirty="0" err="1"/>
              <a:t>của</a:t>
            </a:r>
            <a:r>
              <a:rPr lang="en-US" sz="1500" dirty="0"/>
              <a:t> </a:t>
            </a:r>
            <a:r>
              <a:rPr lang="en-US" sz="1500" dirty="0" err="1"/>
              <a:t>bảng</a:t>
            </a:r>
            <a:r>
              <a:rPr lang="en-US" sz="1500" dirty="0"/>
              <a:t> </a:t>
            </a:r>
            <a:r>
              <a:rPr lang="en-US" sz="1500" dirty="0" err="1"/>
              <a:t>đều</a:t>
            </a:r>
            <a:r>
              <a:rPr lang="en-US" sz="1500" dirty="0"/>
              <a:t> </a:t>
            </a:r>
            <a:r>
              <a:rPr lang="en-US" sz="1500" dirty="0" err="1"/>
              <a:t>chỉ</a:t>
            </a:r>
            <a:r>
              <a:rPr lang="en-US" sz="1500" dirty="0"/>
              <a:t> </a:t>
            </a:r>
            <a:r>
              <a:rPr lang="en-US" sz="1500" dirty="0" err="1"/>
              <a:t>thấy</a:t>
            </a:r>
            <a:r>
              <a:rPr lang="en-US" sz="1500" dirty="0"/>
              <a:t> </a:t>
            </a:r>
            <a:r>
              <a:rPr lang="en-US" sz="1500" dirty="0" err="1"/>
              <a:t>xuất</a:t>
            </a:r>
            <a:r>
              <a:rPr lang="en-US" sz="1500" dirty="0"/>
              <a:t> </a:t>
            </a:r>
            <a:r>
              <a:rPr lang="en-US" sz="1500" dirty="0" err="1"/>
              <a:t>hiện</a:t>
            </a:r>
            <a:r>
              <a:rPr lang="en-US" sz="1500" dirty="0"/>
              <a:t> </a:t>
            </a:r>
            <a:r>
              <a:rPr lang="en-US" sz="1500" dirty="0" err="1"/>
              <a:t>nhiều</a:t>
            </a:r>
            <a:r>
              <a:rPr lang="en-US" sz="1500" dirty="0"/>
              <a:t> </a:t>
            </a:r>
            <a:r>
              <a:rPr lang="en-US" sz="1500" dirty="0" err="1"/>
              <a:t>nhất</a:t>
            </a:r>
            <a:r>
              <a:rPr lang="en-US" sz="1500" dirty="0"/>
              <a:t> </a:t>
            </a:r>
            <a:r>
              <a:rPr lang="en-US" sz="1500" dirty="0" err="1"/>
              <a:t>là</a:t>
            </a:r>
            <a:r>
              <a:rPr lang="en-US" sz="1500" dirty="0"/>
              <a:t> 2 </a:t>
            </a:r>
            <a:r>
              <a:rPr lang="en-US" sz="1500" dirty="0" err="1"/>
              <a:t>bản</a:t>
            </a:r>
            <a:r>
              <a:rPr lang="en-US" sz="1500" dirty="0"/>
              <a:t> </a:t>
            </a:r>
            <a:r>
              <a:rPr lang="en-US" sz="1500" dirty="0" err="1"/>
              <a:t>sao</a:t>
            </a:r>
            <a:r>
              <a:rPr lang="en-US" sz="1500" dirty="0"/>
              <a:t> </a:t>
            </a:r>
            <a:r>
              <a:rPr lang="en-US" sz="1500" dirty="0" err="1"/>
              <a:t>của</a:t>
            </a:r>
            <a:r>
              <a:rPr lang="en-US" sz="1500" dirty="0"/>
              <a:t> 1 </a:t>
            </a:r>
            <a:r>
              <a:rPr lang="en-US" sz="1500" dirty="0" err="1"/>
              <a:t>học</a:t>
            </a:r>
            <a:r>
              <a:rPr lang="en-US" sz="1500" dirty="0"/>
              <a:t> </a:t>
            </a:r>
            <a:r>
              <a:rPr lang="en-US" sz="1500" dirty="0" err="1"/>
              <a:t>sinh</a:t>
            </a:r>
            <a:r>
              <a:rPr lang="en-US" sz="1500" dirty="0"/>
              <a:t>.</a:t>
            </a:r>
          </a:p>
          <a:p>
            <a:r>
              <a:rPr lang="vi-VN" sz="1500" dirty="0"/>
              <a:t>Phát hiện: Những sinh viên bị trùng lặp dữ liệu thường rơi vào nhóm có sự thay đổi trạng thái học tập phức tạp: Đăng ký muộn, Hủy môn, Đăng ký học lại, hoặc Phúc khảo điểm</a:t>
            </a:r>
            <a:r>
              <a:rPr lang="en-US" sz="1500" dirty="0"/>
              <a:t>.</a:t>
            </a:r>
          </a:p>
          <a:p>
            <a:r>
              <a:rPr lang="en-US" sz="1500" dirty="0" err="1"/>
              <a:t>Phát</a:t>
            </a:r>
            <a:r>
              <a:rPr lang="en-US" sz="1500" dirty="0"/>
              <a:t> </a:t>
            </a:r>
            <a:r>
              <a:rPr lang="en-US" sz="1500" dirty="0" err="1"/>
              <a:t>hiện</a:t>
            </a:r>
            <a:r>
              <a:rPr lang="en-US" sz="1500" dirty="0"/>
              <a:t>: </a:t>
            </a:r>
            <a:r>
              <a:rPr lang="en-US" sz="1500" dirty="0" err="1"/>
              <a:t>Có</a:t>
            </a:r>
            <a:r>
              <a:rPr lang="en-US" sz="1500" dirty="0"/>
              <a:t> </a:t>
            </a:r>
            <a:r>
              <a:rPr lang="en-US" sz="1500" dirty="0" err="1"/>
              <a:t>các</a:t>
            </a:r>
            <a:r>
              <a:rPr lang="en-US" sz="1500" dirty="0"/>
              <a:t> </a:t>
            </a:r>
            <a:r>
              <a:rPr lang="en-US" sz="1500" dirty="0" err="1"/>
              <a:t>dòng</a:t>
            </a:r>
            <a:r>
              <a:rPr lang="en-US" sz="1500" dirty="0"/>
              <a:t> </a:t>
            </a:r>
            <a:r>
              <a:rPr lang="en-US" sz="1500" dirty="0" err="1"/>
              <a:t>vượt</a:t>
            </a:r>
            <a:r>
              <a:rPr lang="en-US" sz="1500" dirty="0"/>
              <a:t> </a:t>
            </a:r>
            <a:r>
              <a:rPr lang="en-US" sz="1500" dirty="0" err="1"/>
              <a:t>quá</a:t>
            </a:r>
            <a:r>
              <a:rPr lang="en-US" sz="1500" dirty="0"/>
              <a:t> 35 </a:t>
            </a:r>
            <a:r>
              <a:rPr lang="en-US" sz="1500" dirty="0" err="1"/>
              <a:t>tín</a:t>
            </a:r>
            <a:r>
              <a:rPr lang="en-US" sz="1500" dirty="0"/>
              <a:t> </a:t>
            </a:r>
            <a:r>
              <a:rPr lang="en-US" sz="1500" dirty="0" err="1"/>
              <a:t>trong</a:t>
            </a:r>
            <a:r>
              <a:rPr lang="en-US" sz="1500" dirty="0"/>
              <a:t> </a:t>
            </a:r>
            <a:r>
              <a:rPr lang="en-US" sz="1500" dirty="0" err="1"/>
              <a:t>đồ</a:t>
            </a:r>
            <a:r>
              <a:rPr lang="en-US" sz="1500" dirty="0"/>
              <a:t> </a:t>
            </a:r>
            <a:r>
              <a:rPr lang="en-US" sz="1500" dirty="0" err="1"/>
              <a:t>thị</a:t>
            </a:r>
            <a:r>
              <a:rPr lang="en-US" sz="1500" dirty="0"/>
              <a:t>. </a:t>
            </a:r>
            <a:r>
              <a:rPr lang="en-US" sz="1500" dirty="0" err="1"/>
              <a:t>Dữ</a:t>
            </a:r>
            <a:r>
              <a:rPr lang="en-US" sz="1500" dirty="0"/>
              <a:t> </a:t>
            </a:r>
            <a:r>
              <a:rPr lang="en-US" sz="1500" dirty="0" err="1"/>
              <a:t>liệu</a:t>
            </a:r>
            <a:r>
              <a:rPr lang="en-US" sz="1500" dirty="0"/>
              <a:t> </a:t>
            </a:r>
            <a:r>
              <a:rPr lang="en-US" sz="1500" dirty="0" err="1"/>
              <a:t>cần</a:t>
            </a:r>
            <a:r>
              <a:rPr lang="en-US" sz="1500" dirty="0"/>
              <a:t> </a:t>
            </a:r>
            <a:r>
              <a:rPr lang="en-US" sz="1500" dirty="0" err="1"/>
              <a:t>phải</a:t>
            </a:r>
            <a:r>
              <a:rPr lang="en-US" sz="1500" dirty="0"/>
              <a:t> </a:t>
            </a:r>
            <a:r>
              <a:rPr lang="en-US" sz="1500" dirty="0" err="1"/>
              <a:t>được</a:t>
            </a:r>
            <a:r>
              <a:rPr lang="en-US" sz="1500" dirty="0"/>
              <a:t> </a:t>
            </a:r>
            <a:r>
              <a:rPr lang="en-US" sz="1500" dirty="0" err="1"/>
              <a:t>kiểm</a:t>
            </a:r>
            <a:r>
              <a:rPr lang="en-US" sz="1500" dirty="0"/>
              <a:t> </a:t>
            </a:r>
            <a:r>
              <a:rPr lang="en-US" sz="1500" dirty="0" err="1"/>
              <a:t>tra</a:t>
            </a:r>
            <a:r>
              <a:rPr lang="en-US" sz="1500" dirty="0"/>
              <a:t> </a:t>
            </a:r>
            <a:r>
              <a:rPr lang="en-US" sz="1500" dirty="0" err="1"/>
              <a:t>lại</a:t>
            </a:r>
            <a:r>
              <a:rPr lang="en-US" sz="1500" dirty="0"/>
              <a:t>.</a:t>
            </a:r>
            <a:endParaRPr lang="vi-VN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D24F4C-4AE0-2E88-CF35-BDDCAE8CC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074" y="3215347"/>
            <a:ext cx="5838825" cy="647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Google Shape;144;p19">
            <a:extLst>
              <a:ext uri="{FF2B5EF4-FFF2-40B4-BE49-F238E27FC236}">
                <a16:creationId xmlns:a16="http://schemas.microsoft.com/office/drawing/2014/main" id="{7F3BEF5F-8699-89F4-E78C-FF21D251D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7066" y="3863047"/>
            <a:ext cx="3535578" cy="568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200" i="1" dirty="0"/>
              <a:t>1 </a:t>
            </a:r>
            <a:r>
              <a:rPr lang="en-US" sz="1200" i="1" dirty="0" err="1"/>
              <a:t>trường</a:t>
            </a:r>
            <a:r>
              <a:rPr lang="en-US" sz="1200" i="1" dirty="0"/>
              <a:t> </a:t>
            </a:r>
            <a:r>
              <a:rPr lang="en-US" sz="1200" i="1" dirty="0" err="1"/>
              <a:t>hợp</a:t>
            </a:r>
            <a:r>
              <a:rPr lang="en-US" sz="1200" i="1" dirty="0"/>
              <a:t> </a:t>
            </a:r>
            <a:r>
              <a:rPr lang="en-US" sz="1200" i="1" dirty="0" err="1"/>
              <a:t>có</a:t>
            </a:r>
            <a:r>
              <a:rPr lang="en-US" sz="1200" i="1" dirty="0"/>
              <a:t> </a:t>
            </a:r>
            <a:r>
              <a:rPr lang="en-US" sz="1200" i="1" dirty="0" err="1"/>
              <a:t>bạn</a:t>
            </a:r>
            <a:r>
              <a:rPr lang="en-US" sz="1200" i="1" dirty="0"/>
              <a:t> </a:t>
            </a:r>
            <a:r>
              <a:rPr lang="en-US" sz="1200" i="1" dirty="0" err="1"/>
              <a:t>học</a:t>
            </a:r>
            <a:r>
              <a:rPr lang="en-US" sz="1200" i="1" dirty="0"/>
              <a:t> </a:t>
            </a:r>
            <a:r>
              <a:rPr lang="en-US" sz="1200" i="1" dirty="0" err="1"/>
              <a:t>sinh</a:t>
            </a:r>
            <a:r>
              <a:rPr lang="en-US" sz="1200" i="1" dirty="0"/>
              <a:t> </a:t>
            </a:r>
            <a:r>
              <a:rPr lang="en-US" sz="1200" i="1" dirty="0" err="1"/>
              <a:t>vừa</a:t>
            </a:r>
            <a:r>
              <a:rPr lang="en-US" sz="1200" i="1" dirty="0"/>
              <a:t> </a:t>
            </a:r>
            <a:r>
              <a:rPr lang="en-US" sz="1200" i="1" dirty="0" err="1"/>
              <a:t>bị</a:t>
            </a:r>
            <a:r>
              <a:rPr lang="en-US" sz="1200" i="1" dirty="0"/>
              <a:t> </a:t>
            </a:r>
            <a:r>
              <a:rPr lang="en-US" sz="1200" i="1" dirty="0" err="1"/>
              <a:t>lặp</a:t>
            </a:r>
            <a:r>
              <a:rPr lang="en-US" sz="1200" i="1" dirty="0"/>
              <a:t>, </a:t>
            </a:r>
            <a:r>
              <a:rPr lang="en-US" sz="1200" i="1" dirty="0" err="1"/>
              <a:t>vừa</a:t>
            </a:r>
            <a:r>
              <a:rPr lang="en-US" sz="1200" i="1" dirty="0"/>
              <a:t> </a:t>
            </a:r>
            <a:r>
              <a:rPr lang="en-US" sz="1200" i="1" dirty="0" err="1"/>
              <a:t>có</a:t>
            </a:r>
            <a:r>
              <a:rPr lang="en-US" sz="1200" i="1" dirty="0"/>
              <a:t> </a:t>
            </a:r>
            <a:r>
              <a:rPr lang="en-US" sz="1200" i="1" dirty="0" err="1"/>
              <a:t>số</a:t>
            </a:r>
            <a:r>
              <a:rPr lang="en-US" sz="1200" i="1" dirty="0"/>
              <a:t> </a:t>
            </a:r>
            <a:r>
              <a:rPr lang="en-US" sz="1200" i="1" dirty="0" err="1"/>
              <a:t>tín</a:t>
            </a:r>
            <a:r>
              <a:rPr lang="en-US" sz="1200" i="1" dirty="0"/>
              <a:t> </a:t>
            </a:r>
            <a:r>
              <a:rPr lang="en-US" sz="1200" i="1" dirty="0" err="1"/>
              <a:t>chỉ</a:t>
            </a:r>
            <a:r>
              <a:rPr lang="en-US" sz="1200" i="1" dirty="0"/>
              <a:t> </a:t>
            </a:r>
            <a:r>
              <a:rPr lang="en-US" sz="1200" i="1" dirty="0" err="1"/>
              <a:t>đăng</a:t>
            </a:r>
            <a:r>
              <a:rPr lang="en-US" sz="1200" i="1" dirty="0"/>
              <a:t> </a:t>
            </a:r>
            <a:r>
              <a:rPr lang="en-US" sz="1200" i="1" dirty="0" err="1"/>
              <a:t>ký</a:t>
            </a:r>
            <a:r>
              <a:rPr lang="en-US" sz="1200" i="1" dirty="0"/>
              <a:t> </a:t>
            </a:r>
            <a:r>
              <a:rPr lang="en-US" sz="1200" i="1" dirty="0" err="1"/>
              <a:t>lớn</a:t>
            </a:r>
            <a:r>
              <a:rPr lang="en-US" sz="1200" i="1" dirty="0"/>
              <a:t> </a:t>
            </a:r>
            <a:r>
              <a:rPr lang="en-US" sz="1200" i="1" dirty="0" err="1"/>
              <a:t>hơn</a:t>
            </a:r>
            <a:r>
              <a:rPr lang="en-US" sz="1200" i="1" dirty="0"/>
              <a:t> 35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732531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D18E9-FD6A-106A-EA76-38DE8C7AF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7" name="Google Shape;156;p21">
            <a:extLst>
              <a:ext uri="{FF2B5EF4-FFF2-40B4-BE49-F238E27FC236}">
                <a16:creationId xmlns:a16="http://schemas.microsoft.com/office/drawing/2014/main" id="{E0D9CAFC-3F76-6463-DDDE-AE952DA2B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8" name="Google Shape;144;p19">
            <a:extLst>
              <a:ext uri="{FF2B5EF4-FFF2-40B4-BE49-F238E27FC236}">
                <a16:creationId xmlns:a16="http://schemas.microsoft.com/office/drawing/2014/main" id="{E85E570D-EF6B-DC2C-3D09-A8E62EF0F94D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>
              <a:buFont typeface="Lato"/>
              <a:buNone/>
            </a:pPr>
            <a:r>
              <a:rPr lang="en-US" sz="1800" dirty="0"/>
              <a:t>Thay </a:t>
            </a:r>
            <a:r>
              <a:rPr lang="en-US" sz="1800" dirty="0" err="1"/>
              <a:t>vì</a:t>
            </a:r>
            <a:r>
              <a:rPr lang="en-US" sz="1800" dirty="0"/>
              <a:t> </a:t>
            </a:r>
            <a:r>
              <a:rPr lang="en-US" sz="1800" dirty="0" err="1"/>
              <a:t>xóa</a:t>
            </a:r>
            <a:r>
              <a:rPr lang="en-US" sz="1800" dirty="0"/>
              <a:t> </a:t>
            </a:r>
            <a:r>
              <a:rPr lang="en-US" sz="1800" dirty="0" err="1"/>
              <a:t>hết</a:t>
            </a:r>
            <a:r>
              <a:rPr lang="en-US" sz="1800" dirty="0"/>
              <a:t>,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thức</a:t>
            </a:r>
            <a:r>
              <a:rPr lang="en-US" sz="1800" dirty="0"/>
              <a:t> “</a:t>
            </a:r>
            <a:r>
              <a:rPr lang="en-US" sz="1800" dirty="0" err="1"/>
              <a:t>chấm</a:t>
            </a:r>
            <a:r>
              <a:rPr lang="en-US" sz="1800" dirty="0"/>
              <a:t> </a:t>
            </a:r>
            <a:r>
              <a:rPr lang="en-US" sz="1800" dirty="0" err="1"/>
              <a:t>điểm</a:t>
            </a:r>
            <a:r>
              <a:rPr lang="en-US" sz="1800" dirty="0"/>
              <a:t>”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lọc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những</a:t>
            </a:r>
            <a:r>
              <a:rPr lang="en-US" sz="1800" dirty="0"/>
              <a:t> </a:t>
            </a:r>
            <a:r>
              <a:rPr lang="en-US" sz="1800" dirty="0" err="1"/>
              <a:t>dòng</a:t>
            </a:r>
            <a:r>
              <a:rPr lang="en-US" sz="1800" dirty="0"/>
              <a:t> </a:t>
            </a:r>
            <a:r>
              <a:rPr lang="en-US" sz="1800" dirty="0" err="1"/>
              <a:t>cơ</a:t>
            </a:r>
            <a:r>
              <a:rPr lang="en-US" sz="1800" dirty="0"/>
              <a:t> </a:t>
            </a:r>
            <a:r>
              <a:rPr lang="en-US" sz="1800" dirty="0" err="1"/>
              <a:t>hội</a:t>
            </a:r>
            <a:r>
              <a:rPr lang="en-US" sz="1800" dirty="0"/>
              <a:t> </a:t>
            </a:r>
            <a:r>
              <a:rPr lang="en-US" sz="1800" dirty="0" err="1"/>
              <a:t>cao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en-US" sz="1800" dirty="0"/>
              <a:t> </a:t>
            </a:r>
            <a:r>
              <a:rPr lang="en-US" sz="1800" dirty="0" err="1"/>
              <a:t>lỗi</a:t>
            </a:r>
            <a:r>
              <a:rPr lang="en-US" sz="1800" dirty="0"/>
              <a:t>:</a:t>
            </a:r>
          </a:p>
          <a:p>
            <a:r>
              <a:rPr lang="en-US" sz="1500" dirty="0" err="1"/>
              <a:t>Những</a:t>
            </a:r>
            <a:r>
              <a:rPr lang="en-US" sz="1500" dirty="0"/>
              <a:t> </a:t>
            </a:r>
            <a:r>
              <a:rPr lang="en-US" sz="1500" dirty="0" err="1"/>
              <a:t>dòng</a:t>
            </a:r>
            <a:r>
              <a:rPr lang="en-US" sz="1500" dirty="0"/>
              <a:t> </a:t>
            </a:r>
            <a:r>
              <a:rPr lang="en-US" sz="1500" dirty="0" err="1"/>
              <a:t>có</a:t>
            </a:r>
            <a:r>
              <a:rPr lang="en-US" sz="1500" dirty="0"/>
              <a:t> TC_DANGKY &lt; TC_HOANTHANH: </a:t>
            </a:r>
            <a:r>
              <a:rPr lang="en-US" sz="1500" dirty="0" err="1"/>
              <a:t>trừ</a:t>
            </a:r>
            <a:r>
              <a:rPr lang="en-US" sz="1500" dirty="0"/>
              <a:t> </a:t>
            </a:r>
            <a:r>
              <a:rPr lang="en-US" sz="1500" dirty="0" err="1"/>
              <a:t>điểm</a:t>
            </a:r>
            <a:r>
              <a:rPr lang="en-US" sz="1500" dirty="0"/>
              <a:t> </a:t>
            </a:r>
            <a:r>
              <a:rPr lang="en-US" sz="1500" dirty="0" err="1"/>
              <a:t>nặng</a:t>
            </a:r>
            <a:endParaRPr lang="en-US" sz="1500" dirty="0"/>
          </a:p>
          <a:p>
            <a:r>
              <a:rPr lang="en-US" sz="1500" dirty="0" err="1"/>
              <a:t>Những</a:t>
            </a:r>
            <a:r>
              <a:rPr lang="en-US" sz="1500" dirty="0"/>
              <a:t> </a:t>
            </a:r>
            <a:r>
              <a:rPr lang="en-US" sz="1500" dirty="0" err="1"/>
              <a:t>dòng</a:t>
            </a:r>
            <a:r>
              <a:rPr lang="en-US" sz="1500" dirty="0"/>
              <a:t> </a:t>
            </a:r>
            <a:r>
              <a:rPr lang="en-US" sz="1500" dirty="0" err="1"/>
              <a:t>đủ</a:t>
            </a:r>
            <a:r>
              <a:rPr lang="en-US" sz="1500" dirty="0"/>
              <a:t> </a:t>
            </a:r>
            <a:r>
              <a:rPr lang="en-US" sz="1500" dirty="0" err="1"/>
              <a:t>tiêu</a:t>
            </a:r>
            <a:r>
              <a:rPr lang="en-US" sz="1500" dirty="0"/>
              <a:t> </a:t>
            </a:r>
            <a:r>
              <a:rPr lang="en-US" sz="1500" dirty="0" err="1"/>
              <a:t>chuẩn</a:t>
            </a:r>
            <a:r>
              <a:rPr lang="en-US" sz="1500" dirty="0"/>
              <a:t> (TC_DANGKY ≥</a:t>
            </a:r>
            <a:r>
              <a:rPr lang="en-US" dirty="0"/>
              <a:t> </a:t>
            </a:r>
            <a:r>
              <a:rPr lang="en-US" sz="1500" dirty="0"/>
              <a:t>TC_HOANTHANH, TC_DANGKY ≤ 35)</a:t>
            </a:r>
          </a:p>
          <a:p>
            <a:pPr lvl="1"/>
            <a:r>
              <a:rPr lang="en-US" sz="1500" dirty="0" err="1"/>
              <a:t>Số</a:t>
            </a:r>
            <a:r>
              <a:rPr lang="en-US" sz="1500" dirty="0"/>
              <a:t> </a:t>
            </a:r>
            <a:r>
              <a:rPr lang="en-US" sz="1500" dirty="0" err="1"/>
              <a:t>điểm</a:t>
            </a:r>
            <a:r>
              <a:rPr lang="en-US" sz="1500" dirty="0"/>
              <a:t> </a:t>
            </a:r>
            <a:r>
              <a:rPr lang="en-US" sz="1500" dirty="0" err="1"/>
              <a:t>sẽ</a:t>
            </a:r>
            <a:r>
              <a:rPr lang="en-US" sz="1500" dirty="0"/>
              <a:t> </a:t>
            </a:r>
            <a:r>
              <a:rPr lang="en-US" sz="1500" dirty="0" err="1"/>
              <a:t>bị</a:t>
            </a:r>
            <a:r>
              <a:rPr lang="en-US" sz="1500" dirty="0"/>
              <a:t> </a:t>
            </a:r>
            <a:r>
              <a:rPr lang="en-US" sz="1500" dirty="0" err="1"/>
              <a:t>trừ</a:t>
            </a:r>
            <a:r>
              <a:rPr lang="en-US" sz="1500" dirty="0"/>
              <a:t> </a:t>
            </a:r>
            <a:r>
              <a:rPr lang="en-US" sz="1500" dirty="0" err="1"/>
              <a:t>đi</a:t>
            </a:r>
            <a:r>
              <a:rPr lang="en-US" sz="1500" dirty="0"/>
              <a:t> </a:t>
            </a:r>
            <a:r>
              <a:rPr lang="en-US" sz="1500" dirty="0" err="1"/>
              <a:t>bằng</a:t>
            </a:r>
            <a:r>
              <a:rPr lang="en-US" sz="1500" dirty="0"/>
              <a:t> GPA * 10 (</a:t>
            </a:r>
            <a:r>
              <a:rPr lang="en-US" sz="1500" dirty="0" err="1"/>
              <a:t>các</a:t>
            </a:r>
            <a:r>
              <a:rPr lang="en-US" sz="1500" dirty="0"/>
              <a:t> </a:t>
            </a:r>
            <a:r>
              <a:rPr lang="en-US" sz="1500" dirty="0" err="1"/>
              <a:t>học</a:t>
            </a:r>
            <a:r>
              <a:rPr lang="en-US" sz="1500" dirty="0"/>
              <a:t> </a:t>
            </a:r>
            <a:r>
              <a:rPr lang="en-US" sz="1500" dirty="0" err="1"/>
              <a:t>sinh</a:t>
            </a:r>
            <a:r>
              <a:rPr lang="en-US" sz="1500" dirty="0"/>
              <a:t> </a:t>
            </a:r>
            <a:r>
              <a:rPr lang="en-US" sz="1500" dirty="0" err="1"/>
              <a:t>có</a:t>
            </a:r>
            <a:r>
              <a:rPr lang="en-US" sz="1500" dirty="0"/>
              <a:t> GPA </a:t>
            </a:r>
            <a:r>
              <a:rPr lang="en-US" sz="1500" dirty="0" err="1"/>
              <a:t>thấp</a:t>
            </a:r>
            <a:r>
              <a:rPr lang="en-US" sz="1500" dirty="0"/>
              <a:t> </a:t>
            </a:r>
            <a:r>
              <a:rPr lang="en-US" sz="1500" dirty="0" err="1"/>
              <a:t>sẽ</a:t>
            </a:r>
            <a:r>
              <a:rPr lang="en-US" sz="1500" dirty="0"/>
              <a:t> an </a:t>
            </a:r>
            <a:r>
              <a:rPr lang="en-US" sz="1500" dirty="0" err="1"/>
              <a:t>toàn</a:t>
            </a:r>
            <a:r>
              <a:rPr lang="en-US" sz="1500" dirty="0"/>
              <a:t> </a:t>
            </a:r>
            <a:r>
              <a:rPr lang="en-US" sz="1500" dirty="0" err="1"/>
              <a:t>hơn</a:t>
            </a:r>
            <a:r>
              <a:rPr lang="en-US" sz="1500" dirty="0"/>
              <a:t> </a:t>
            </a:r>
            <a:r>
              <a:rPr lang="en-US" sz="1500" dirty="0" err="1"/>
              <a:t>cho</a:t>
            </a:r>
            <a:r>
              <a:rPr lang="en-US" sz="1500" dirty="0"/>
              <a:t> </a:t>
            </a:r>
            <a:r>
              <a:rPr lang="en-US" sz="1500" dirty="0" err="1"/>
              <a:t>dữ</a:t>
            </a:r>
            <a:r>
              <a:rPr lang="en-US" sz="1500" dirty="0"/>
              <a:t> </a:t>
            </a:r>
            <a:r>
              <a:rPr lang="en-US" sz="1500" dirty="0" err="1"/>
              <a:t>liệu</a:t>
            </a:r>
            <a:r>
              <a:rPr lang="en-US" sz="1500" dirty="0"/>
              <a:t>.</a:t>
            </a:r>
          </a:p>
          <a:p>
            <a:pPr lvl="1"/>
            <a:r>
              <a:rPr lang="en-US" sz="1500" dirty="0" err="1"/>
              <a:t>Chỉ</a:t>
            </a:r>
            <a:r>
              <a:rPr lang="en-US" sz="1500" dirty="0"/>
              <a:t> </a:t>
            </a:r>
            <a:r>
              <a:rPr lang="en-US" sz="1500" dirty="0" err="1"/>
              <a:t>lấy</a:t>
            </a:r>
            <a:r>
              <a:rPr lang="en-US" sz="1500" dirty="0"/>
              <a:t> 1 </a:t>
            </a:r>
            <a:r>
              <a:rPr lang="en-US" sz="1500" dirty="0" err="1"/>
              <a:t>dòng</a:t>
            </a:r>
            <a:r>
              <a:rPr lang="en-US" sz="1500" dirty="0"/>
              <a:t> </a:t>
            </a:r>
            <a:r>
              <a:rPr lang="en-US" sz="1500" dirty="0" err="1"/>
              <a:t>cho</a:t>
            </a:r>
            <a:r>
              <a:rPr lang="en-US" sz="1500" dirty="0"/>
              <a:t> </a:t>
            </a:r>
            <a:r>
              <a:rPr lang="en-US" sz="1500" dirty="0" err="1"/>
              <a:t>mỗi</a:t>
            </a:r>
            <a:r>
              <a:rPr lang="en-US" sz="1500" dirty="0"/>
              <a:t> </a:t>
            </a:r>
            <a:r>
              <a:rPr lang="en-US" sz="1500" dirty="0" err="1"/>
              <a:t>học</a:t>
            </a:r>
            <a:r>
              <a:rPr lang="en-US" sz="1500" dirty="0"/>
              <a:t> </a:t>
            </a:r>
            <a:r>
              <a:rPr lang="en-US" sz="1500" dirty="0" err="1"/>
              <a:t>sinh</a:t>
            </a:r>
            <a:r>
              <a:rPr lang="en-US" sz="1500" dirty="0"/>
              <a:t>.</a:t>
            </a:r>
            <a:endParaRPr lang="vi-VN" sz="1500" dirty="0"/>
          </a:p>
        </p:txBody>
      </p:sp>
    </p:spTree>
    <p:extLst>
      <p:ext uri="{BB962C8B-B14F-4D97-AF65-F5344CB8AC3E}">
        <p14:creationId xmlns:p14="http://schemas.microsoft.com/office/powerpoint/2010/main" val="246232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5CEFA-045D-3353-7A24-E98A5883ED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6DCBA6-0053-5143-41D7-A4727355A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7" y="349287"/>
            <a:ext cx="3590522" cy="2810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3AEAFE-D47C-25CF-51A1-0B43B6C1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053" y="1643226"/>
            <a:ext cx="3590522" cy="15165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Google Shape;144;p19">
            <a:extLst>
              <a:ext uri="{FF2B5EF4-FFF2-40B4-BE49-F238E27FC236}">
                <a16:creationId xmlns:a16="http://schemas.microsoft.com/office/drawing/2014/main" id="{BC755CDA-61AB-0090-9394-522B05434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47513" y="3274112"/>
            <a:ext cx="2445531" cy="568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200" i="1" dirty="0" err="1"/>
              <a:t>Codeblock</a:t>
            </a:r>
            <a:endParaRPr lang="en-US" sz="1200" i="1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580826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67735-AA15-0D23-80D5-725AEB5BB9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751A5E-D5A8-74BD-A491-774D91F13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4" y="1335449"/>
            <a:ext cx="8756542" cy="14195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EB74E735-4C24-1502-9967-E1D2CAD42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95852" y="2912485"/>
            <a:ext cx="2445531" cy="568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200" i="1" dirty="0" err="1"/>
              <a:t>Kết</a:t>
            </a:r>
            <a:r>
              <a:rPr lang="en-US" sz="1200" i="1" dirty="0"/>
              <a:t> </a:t>
            </a:r>
            <a:r>
              <a:rPr lang="en-US" sz="1200" i="1" dirty="0" err="1"/>
              <a:t>quả</a:t>
            </a:r>
            <a:r>
              <a:rPr lang="en-US" sz="1200" i="1" dirty="0"/>
              <a:t> </a:t>
            </a:r>
            <a:r>
              <a:rPr lang="en-US" sz="1200" i="1" dirty="0" err="1"/>
              <a:t>của</a:t>
            </a:r>
            <a:r>
              <a:rPr lang="en-US" sz="1200" i="1" dirty="0"/>
              <a:t> </a:t>
            </a:r>
            <a:r>
              <a:rPr lang="en-US" sz="1200" i="1" dirty="0" err="1"/>
              <a:t>codeblock</a:t>
            </a:r>
            <a:endParaRPr lang="en-US" sz="1200" i="1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369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E67C-7427-347D-41CB-8BA9A331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F5F03-D44F-7AAB-289A-C3BA0F7A03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2" name="Google Shape;156;p21">
            <a:extLst>
              <a:ext uri="{FF2B5EF4-FFF2-40B4-BE49-F238E27FC236}">
                <a16:creationId xmlns:a16="http://schemas.microsoft.com/office/drawing/2014/main" id="{868E1563-47BB-7A0F-B3BC-41B7B707C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0700" y="51756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Cleaning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C271B-51A1-4DBD-9FFE-76056C8F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853" y="1028054"/>
            <a:ext cx="2868560" cy="32096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Google Shape;144;p19">
            <a:extLst>
              <a:ext uri="{FF2B5EF4-FFF2-40B4-BE49-F238E27FC236}">
                <a16:creationId xmlns:a16="http://schemas.microsoft.com/office/drawing/2014/main" id="{CFD4A6E9-2103-564D-B2B2-B8A71FA6D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89441" y="4356638"/>
            <a:ext cx="2805972" cy="568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ctr" rtl="0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200" i="1" dirty="0" err="1"/>
              <a:t>Không</a:t>
            </a:r>
            <a:r>
              <a:rPr lang="en-US" sz="1200" i="1" dirty="0"/>
              <a:t> </a:t>
            </a:r>
            <a:r>
              <a:rPr lang="en-US" sz="1200" i="1" dirty="0" err="1"/>
              <a:t>có</a:t>
            </a:r>
            <a:r>
              <a:rPr lang="en-US" sz="1200" i="1" dirty="0"/>
              <a:t> </a:t>
            </a:r>
            <a:r>
              <a:rPr lang="en-US" sz="1200" i="1" dirty="0" err="1"/>
              <a:t>giá</a:t>
            </a:r>
            <a:r>
              <a:rPr lang="en-US" sz="1200" i="1" dirty="0"/>
              <a:t> </a:t>
            </a:r>
            <a:r>
              <a:rPr lang="en-US" sz="1200" i="1" dirty="0" err="1"/>
              <a:t>trị</a:t>
            </a:r>
            <a:r>
              <a:rPr lang="en-US" sz="1200" i="1" dirty="0"/>
              <a:t> null </a:t>
            </a:r>
            <a:r>
              <a:rPr lang="en-US" sz="1200" i="1" dirty="0" err="1"/>
              <a:t>trong</a:t>
            </a:r>
            <a:r>
              <a:rPr lang="en-US" sz="1200" i="1" dirty="0"/>
              <a:t> </a:t>
            </a:r>
            <a:r>
              <a:rPr lang="en-US" sz="1200" i="1" dirty="0" err="1"/>
              <a:t>tập</a:t>
            </a:r>
            <a:r>
              <a:rPr lang="en-US" sz="1200" i="1" dirty="0"/>
              <a:t> </a:t>
            </a:r>
            <a:r>
              <a:rPr lang="en-US" sz="1200" i="1" dirty="0" err="1"/>
              <a:t>dữ</a:t>
            </a:r>
            <a:r>
              <a:rPr lang="en-US" sz="1200" i="1" dirty="0"/>
              <a:t> </a:t>
            </a:r>
            <a:r>
              <a:rPr lang="en-US" sz="1200" i="1" dirty="0" err="1"/>
              <a:t>liệu</a:t>
            </a:r>
            <a:endParaRPr lang="en-US" sz="1200" i="1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826868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4739C-8612-382F-7C18-C6D850CB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67B5A-DA61-F559-8A6E-9BC5067C4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360ACB-1799-817A-176E-2B2A643AA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21" y="1813705"/>
            <a:ext cx="4712876" cy="14139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Google Shape;144;p19">
            <a:extLst>
              <a:ext uri="{FF2B5EF4-FFF2-40B4-BE49-F238E27FC236}">
                <a16:creationId xmlns:a16="http://schemas.microsoft.com/office/drawing/2014/main" id="{03CDE705-FEB4-8029-DC49-AC0005287949}"/>
              </a:ext>
            </a:extLst>
          </p:cNvPr>
          <p:cNvSpPr txBox="1">
            <a:spLocks/>
          </p:cNvSpPr>
          <p:nvPr/>
        </p:nvSpPr>
        <p:spPr>
          <a:xfrm>
            <a:off x="3221177" y="3346513"/>
            <a:ext cx="2805972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 err="1"/>
              <a:t>Có</a:t>
            </a:r>
            <a:r>
              <a:rPr lang="en-US" sz="1200" i="1" dirty="0"/>
              <a:t> </a:t>
            </a:r>
            <a:r>
              <a:rPr lang="en-US" sz="1200" i="1" dirty="0" err="1"/>
              <a:t>khá</a:t>
            </a:r>
            <a:r>
              <a:rPr lang="en-US" sz="1200" i="1" dirty="0"/>
              <a:t> </a:t>
            </a:r>
            <a:r>
              <a:rPr lang="en-US" sz="1200" i="1" dirty="0" err="1"/>
              <a:t>nhiều</a:t>
            </a:r>
            <a:r>
              <a:rPr lang="en-US" sz="1200" i="1" dirty="0"/>
              <a:t> </a:t>
            </a:r>
            <a:r>
              <a:rPr lang="en-US" sz="1200" i="1" dirty="0" err="1"/>
              <a:t>giá</a:t>
            </a:r>
            <a:r>
              <a:rPr lang="en-US" sz="1200" i="1" dirty="0"/>
              <a:t> </a:t>
            </a:r>
            <a:r>
              <a:rPr lang="en-US" sz="1200" i="1" dirty="0" err="1"/>
              <a:t>trị</a:t>
            </a:r>
            <a:r>
              <a:rPr lang="en-US" sz="1200" i="1" dirty="0"/>
              <a:t> 0 </a:t>
            </a:r>
            <a:r>
              <a:rPr lang="en-US" sz="1200" i="1" dirty="0" err="1"/>
              <a:t>trong</a:t>
            </a:r>
            <a:r>
              <a:rPr lang="en-US" sz="1200" i="1" dirty="0"/>
              <a:t> </a:t>
            </a:r>
            <a:r>
              <a:rPr lang="en-US" sz="1200" i="1" dirty="0" err="1"/>
              <a:t>tập</a:t>
            </a:r>
            <a:r>
              <a:rPr lang="en-US" sz="1200" i="1" dirty="0"/>
              <a:t> </a:t>
            </a:r>
            <a:r>
              <a:rPr lang="en-US" sz="1200" i="1" dirty="0" err="1"/>
              <a:t>dữ</a:t>
            </a:r>
            <a:r>
              <a:rPr lang="en-US" sz="1200" i="1" dirty="0"/>
              <a:t> </a:t>
            </a:r>
            <a:r>
              <a:rPr lang="en-US" sz="1200" i="1" dirty="0" err="1"/>
              <a:t>liệu</a:t>
            </a:r>
            <a:endParaRPr lang="en-US" sz="1200" i="1" dirty="0"/>
          </a:p>
          <a:p>
            <a:endParaRPr lang="en-US" sz="1800" dirty="0"/>
          </a:p>
        </p:txBody>
      </p:sp>
      <p:sp>
        <p:nvSpPr>
          <p:cNvPr id="2" name="Google Shape;156;p21">
            <a:extLst>
              <a:ext uri="{FF2B5EF4-FFF2-40B4-BE49-F238E27FC236}">
                <a16:creationId xmlns:a16="http://schemas.microsoft.com/office/drawing/2014/main" id="{9E1F8ABB-BE74-2E55-A8DA-5B6A9E7D8D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0700" y="51756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8228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>
            <a:spLocks noGrp="1"/>
          </p:cNvSpPr>
          <p:nvPr>
            <p:ph type="ctrTitle"/>
          </p:nvPr>
        </p:nvSpPr>
        <p:spPr>
          <a:xfrm>
            <a:off x="685800" y="19918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PHÂN TÍCH DATA</a:t>
            </a:r>
            <a:endParaRPr dirty="0"/>
          </a:p>
        </p:txBody>
      </p:sp>
      <p:sp>
        <p:nvSpPr>
          <p:cNvPr id="151" name="Google Shape;151;p20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046E-47D6-5F6B-8674-D0144049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19453-7E34-53E4-5693-51BCDC8554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7EB08-37A5-BAFA-B434-5B48B086C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48" y="1827457"/>
            <a:ext cx="8384175" cy="11226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Google Shape;144;p19">
            <a:extLst>
              <a:ext uri="{FF2B5EF4-FFF2-40B4-BE49-F238E27FC236}">
                <a16:creationId xmlns:a16="http://schemas.microsoft.com/office/drawing/2014/main" id="{18CACB05-C502-299F-7B6C-53ACFDF61CC1}"/>
              </a:ext>
            </a:extLst>
          </p:cNvPr>
          <p:cNvSpPr txBox="1">
            <a:spLocks/>
          </p:cNvSpPr>
          <p:nvPr/>
        </p:nvSpPr>
        <p:spPr>
          <a:xfrm>
            <a:off x="3169014" y="3046879"/>
            <a:ext cx="2805972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/>
              <a:t>Các </a:t>
            </a:r>
            <a:r>
              <a:rPr lang="en-US" sz="1200" i="1" dirty="0" err="1"/>
              <a:t>cột</a:t>
            </a:r>
            <a:r>
              <a:rPr lang="en-US" sz="1200" i="1" dirty="0"/>
              <a:t> </a:t>
            </a:r>
            <a:r>
              <a:rPr lang="en-US" sz="1200" i="1" dirty="0" err="1"/>
              <a:t>của</a:t>
            </a:r>
            <a:r>
              <a:rPr lang="en-US" sz="1200" i="1" dirty="0"/>
              <a:t> </a:t>
            </a:r>
            <a:r>
              <a:rPr lang="en-US" sz="1200" i="1" dirty="0" err="1"/>
              <a:t>tập</a:t>
            </a:r>
            <a:r>
              <a:rPr lang="en-US" sz="1200" i="1" dirty="0"/>
              <a:t> </a:t>
            </a:r>
            <a:r>
              <a:rPr lang="en-US" sz="1200" i="1" dirty="0" err="1"/>
              <a:t>dữ</a:t>
            </a:r>
            <a:r>
              <a:rPr lang="en-US" sz="1200" i="1" dirty="0"/>
              <a:t> </a:t>
            </a:r>
            <a:r>
              <a:rPr lang="en-US" sz="1200" i="1" dirty="0" err="1"/>
              <a:t>liệu</a:t>
            </a:r>
            <a:endParaRPr lang="en-US" sz="1200" i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4054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EAA99-5047-5B95-81C8-69ABDE43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5D55A-593A-B90E-D3F9-A2AC95095C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A6F21-19DF-2F68-AEEC-E64E7B5A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347" y="149665"/>
            <a:ext cx="6171630" cy="45472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6730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8988-320B-E0A6-EAF4-F065F13D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010FA-4095-4AD3-D783-B47DE07DA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0E615D4B-33C1-96B2-F9B9-859E676F9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B7920B81-8206-2B55-720B-571BE31334D3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: </a:t>
            </a:r>
            <a:r>
              <a:rPr lang="vi-VN" sz="2000" dirty="0"/>
              <a:t>Hiện tại đang xếp PTXT vào nhóm Numeric. Tuy nhiên, trong tuyển sinh đại học, đây là biến Phân loại (</a:t>
            </a:r>
            <a:r>
              <a:rPr lang="vi-VN" sz="2000" b="1" dirty="0"/>
              <a:t>Categorical</a:t>
            </a:r>
            <a:r>
              <a:rPr lang="vi-VN" sz="2000" dirty="0"/>
              <a:t>). Ví dụ: 1 là Xét tuyển thẳng, 2 là Xét điểm thi THPT, 3 là Xét học bạ.</a:t>
            </a:r>
          </a:p>
          <a:p>
            <a:r>
              <a:rPr lang="vi-VN" sz="2000" dirty="0"/>
              <a:t>Nguy cơ: Nếu để nguyên dạng số, mô hình sẽ hiểu sai rằng Phương thức 3 "lớn hơn" Phương thức 1, dẫn đến học sai quy luật.</a:t>
            </a:r>
          </a:p>
          <a:p>
            <a:r>
              <a:rPr lang="vi-VN" sz="2000" dirty="0"/>
              <a:t>Hành động: Cần chuyển PTXT sang dạng </a:t>
            </a:r>
            <a:r>
              <a:rPr lang="vi-VN" sz="2000" b="1" dirty="0"/>
              <a:t>Categorical</a:t>
            </a:r>
            <a:r>
              <a:rPr lang="vi-VN" sz="2000" dirty="0"/>
              <a:t> (</a:t>
            </a:r>
            <a:r>
              <a:rPr lang="vi-VN" sz="2000" i="1" dirty="0"/>
              <a:t>One-Hot Encoding</a:t>
            </a:r>
            <a:r>
              <a:rPr lang="vi-VN" sz="2000" dirty="0"/>
              <a:t> hoặc </a:t>
            </a:r>
            <a:r>
              <a:rPr lang="vi-VN" sz="2000" i="1" dirty="0"/>
              <a:t>Label Encoding</a:t>
            </a:r>
            <a:r>
              <a:rPr lang="vi-VN" sz="2000" dirty="0"/>
              <a:t>).</a:t>
            </a:r>
          </a:p>
          <a:p>
            <a:pPr marL="114300" indent="0">
              <a:buFont typeface="Lato"/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238387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58403-9BA0-5C30-3718-E640CA58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01D81-18F1-BB05-4B13-F78ADD93A0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369ACD83-133F-9E6B-FC6A-050CB920C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038C1009-49ED-F5EA-8B98-320E037E2203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vi-VN" sz="2000" dirty="0"/>
              <a:t>: Đang xếp HOC_KY vào nhóm </a:t>
            </a:r>
            <a:r>
              <a:rPr lang="vi-VN" sz="2000" b="1" dirty="0"/>
              <a:t>Categorical</a:t>
            </a:r>
            <a:r>
              <a:rPr lang="vi-VN" sz="2000" dirty="0"/>
              <a:t>.</a:t>
            </a:r>
          </a:p>
          <a:p>
            <a:r>
              <a:rPr lang="vi-VN" sz="2000" dirty="0"/>
              <a:t>Rủi ro: Nếu One-Hot Encoding cột này (ví dụ: HK1_2023, HK2_2023...), mô hình sẽ mất hoàn toàn tính thứ tự thời gian. Nó sẽ có khả năng không hiểu là HK2 diễn ra sau HK1.</a:t>
            </a:r>
          </a:p>
          <a:p>
            <a:r>
              <a:rPr lang="vi-VN" sz="2000" dirty="0"/>
              <a:t>Insight: HOC_KY thực chất là Time-Series (Ordinal). Cần tách nó thành YEAR (Niên khóa) và TERM (Học kỳ) để mô hình thấy được xu hướng "Trưởng thành" hoặc "Trượt dốc" của sinh viên.</a:t>
            </a:r>
          </a:p>
          <a:p>
            <a:pPr marL="114300" indent="0">
              <a:buFont typeface="Lato"/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2090006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5465-B120-25FA-500F-5E3D07C39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56012-0BAA-3AAD-4CDC-8135F4455E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6C65F088-5313-BC86-9C7F-3129C77202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D0818C2D-CD25-5BBE-049E-70278018B895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vi-VN" sz="2000" dirty="0"/>
              <a:t>Dữ liệu: TC_DANGKY có </a:t>
            </a:r>
            <a:r>
              <a:rPr lang="vi-VN" sz="2000" i="1" dirty="0"/>
              <a:t>Max = 71.00</a:t>
            </a:r>
            <a:r>
              <a:rPr lang="vi-VN" sz="2000" dirty="0"/>
              <a:t>, trong khi 95% sinh viên chỉ đăng ký dưới 28 tín</a:t>
            </a:r>
            <a:r>
              <a:rPr lang="en-US" sz="2000" dirty="0"/>
              <a:t> -&gt; </a:t>
            </a: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sạch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hoàn</a:t>
            </a:r>
            <a:r>
              <a:rPr lang="en-US" sz="2000" dirty="0"/>
              <a:t> </a:t>
            </a:r>
            <a:r>
              <a:rPr lang="en-US" sz="2000" dirty="0" err="1"/>
              <a:t>toàn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pháp</a:t>
            </a:r>
            <a:r>
              <a:rPr lang="en-US" sz="2000" dirty="0"/>
              <a:t>: </a:t>
            </a:r>
            <a:r>
              <a:rPr lang="vi-VN" sz="2000" dirty="0"/>
              <a:t>Áp dụng ngưỡng trên (cap_limit) ở mức 3</a:t>
            </a:r>
            <a:r>
              <a:rPr lang="en-US" sz="2000" dirty="0"/>
              <a:t>5</a:t>
            </a:r>
            <a:r>
              <a:rPr lang="vi-VN" sz="2000" dirty="0"/>
              <a:t> tín chỉ</a:t>
            </a:r>
            <a:r>
              <a:rPr lang="en-US" sz="2000" dirty="0"/>
              <a:t>.</a:t>
            </a:r>
          </a:p>
          <a:p>
            <a:endParaRPr lang="vi-V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FD4046-4AD1-3F9C-AB7B-373F29285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05" y="2446071"/>
            <a:ext cx="4331455" cy="19387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FF1A5C1D-89B3-9DA1-FD97-66FE8B9C340A}"/>
              </a:ext>
            </a:extLst>
          </p:cNvPr>
          <p:cNvSpPr txBox="1">
            <a:spLocks/>
          </p:cNvSpPr>
          <p:nvPr/>
        </p:nvSpPr>
        <p:spPr>
          <a:xfrm>
            <a:off x="1205894" y="4333162"/>
            <a:ext cx="6016315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/>
              <a:t>998 </a:t>
            </a:r>
            <a:r>
              <a:rPr lang="en-US" sz="1200" i="1" dirty="0" err="1"/>
              <a:t>dòng</a:t>
            </a:r>
            <a:r>
              <a:rPr lang="en-US" sz="1200" i="1" dirty="0"/>
              <a:t> </a:t>
            </a:r>
            <a:r>
              <a:rPr lang="en-US" sz="1200" i="1" dirty="0" err="1"/>
              <a:t>có</a:t>
            </a:r>
            <a:r>
              <a:rPr lang="en-US" sz="1200" i="1" dirty="0"/>
              <a:t> TC_DANGKY &gt; 35, 393 </a:t>
            </a:r>
            <a:r>
              <a:rPr lang="en-US" sz="1200" i="1" dirty="0" err="1"/>
              <a:t>dòng</a:t>
            </a:r>
            <a:r>
              <a:rPr lang="en-US" sz="1200" i="1" dirty="0"/>
              <a:t> </a:t>
            </a:r>
            <a:r>
              <a:rPr lang="en-US" sz="1200" i="1" dirty="0" err="1"/>
              <a:t>có</a:t>
            </a:r>
            <a:r>
              <a:rPr lang="en-US" sz="1200" i="1" dirty="0"/>
              <a:t> TC_HOANTHANH &gt; 35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1931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073E-2B44-1469-AE33-8F9CF80A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A03E-9C65-456D-FB39-4ACE4DB3B1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370A9AC6-2430-64F4-C2E3-45ECC55C1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37245A64-BA32-B9A4-930C-5C674566F44A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vi-VN" sz="2000" dirty="0"/>
              <a:t>Giải pháp thông minh:</a:t>
            </a:r>
            <a:endParaRPr lang="en-US" sz="2000" dirty="0"/>
          </a:p>
          <a:p>
            <a:pPr lvl="1"/>
            <a:r>
              <a:rPr lang="vi-VN" sz="1500" b="1" dirty="0"/>
              <a:t>Tình huống A: GPA cao &gt; 3.2:</a:t>
            </a:r>
            <a:r>
              <a:rPr lang="vi-VN" sz="1500" dirty="0"/>
              <a:t> GPA cao nghĩa là </a:t>
            </a:r>
            <a:r>
              <a:rPr lang="en-US" sz="1500" dirty="0" err="1"/>
              <a:t>xác</a:t>
            </a:r>
            <a:r>
              <a:rPr lang="en-US" sz="1500" dirty="0"/>
              <a:t> </a:t>
            </a:r>
            <a:r>
              <a:rPr lang="vi-VN" sz="1500" dirty="0"/>
              <a:t>suất rớt môn cực thấp. Suy luận: Số tín chỉ đăng ký thực tế phải rất sát với số tín chỉ hoàn thành. Giải pháp: TC_DANGKY_Mới = TC_HOANTHANH</a:t>
            </a:r>
            <a:endParaRPr lang="en-US" sz="1500" dirty="0"/>
          </a:p>
          <a:p>
            <a:pPr lvl="1"/>
            <a:r>
              <a:rPr lang="vi-VN" sz="1500" b="1" dirty="0"/>
              <a:t>Tình huống B: 2.0 &lt;= GPA &lt;= 3.2</a:t>
            </a:r>
            <a:r>
              <a:rPr lang="vi-VN" sz="1500" dirty="0"/>
              <a:t>: Học lực Khá. Có thể rớt 1-2 môn hoặc hủy môn nhưng không nhiều. Suy luận: Đăng ký thực tế có thể cao hơn Hoàn thành một chút (khoảng 10-20%). Giải pháp: TC_DANGKY_Mới = TC_HOANTHANH * 1.2 (nhưng không vượt trần 30)</a:t>
            </a:r>
            <a:endParaRPr lang="en-US" sz="1500" dirty="0"/>
          </a:p>
          <a:p>
            <a:pPr lvl="1"/>
            <a:r>
              <a:rPr lang="vi-VN" sz="1500" b="1" dirty="0"/>
              <a:t>Tình huống C: GPA &lt; 2.0</a:t>
            </a:r>
            <a:r>
              <a:rPr lang="vi-VN" sz="1500" dirty="0"/>
              <a:t>GPA thấp chứng tỏ rớt rất nhiều. Suy luận: Sinh viên này có thể đã đăng ký "Full tải" (25-30 tín) nhưng rớt sạch, chỉ qua được vài môn dễ. Giải pháp: TC_DANGKY_Mới = Ngưỡng Trần An Toàn (ví dụ 25 hoặc 30).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2335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ADD0-FF02-4470-C44A-BF464A99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40887-3FFE-E44F-80FE-AD07BABDC3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3B7CA-5592-6A85-43C6-27070A77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13" y="216975"/>
            <a:ext cx="3926854" cy="38003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F24BBB-4693-01B4-FFE6-5BE37518B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863" y="216975"/>
            <a:ext cx="3675523" cy="38917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Google Shape;144;p19">
            <a:extLst>
              <a:ext uri="{FF2B5EF4-FFF2-40B4-BE49-F238E27FC236}">
                <a16:creationId xmlns:a16="http://schemas.microsoft.com/office/drawing/2014/main" id="{CEED1110-6E91-2257-1104-6774EFBE5F6C}"/>
              </a:ext>
            </a:extLst>
          </p:cNvPr>
          <p:cNvSpPr txBox="1">
            <a:spLocks/>
          </p:cNvSpPr>
          <p:nvPr/>
        </p:nvSpPr>
        <p:spPr>
          <a:xfrm>
            <a:off x="3169014" y="4219584"/>
            <a:ext cx="2805972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 err="1"/>
              <a:t>Codeblock</a:t>
            </a:r>
            <a:endParaRPr lang="en-US" sz="1200" i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4873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1FE9-B1F2-2A12-F110-68870BA37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E6631-B41F-9A6A-105C-79A7866ED1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83413C-FB61-FE54-B4A0-0FFE8539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2033587"/>
            <a:ext cx="5276850" cy="10763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Google Shape;144;p19">
            <a:extLst>
              <a:ext uri="{FF2B5EF4-FFF2-40B4-BE49-F238E27FC236}">
                <a16:creationId xmlns:a16="http://schemas.microsoft.com/office/drawing/2014/main" id="{45E937DF-3F72-AC80-66BF-6C0EE226B4AA}"/>
              </a:ext>
            </a:extLst>
          </p:cNvPr>
          <p:cNvSpPr txBox="1">
            <a:spLocks/>
          </p:cNvSpPr>
          <p:nvPr/>
        </p:nvSpPr>
        <p:spPr>
          <a:xfrm>
            <a:off x="3070859" y="3258689"/>
            <a:ext cx="2805972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 err="1"/>
              <a:t>Kết</a:t>
            </a:r>
            <a:r>
              <a:rPr lang="en-US" sz="1200" i="1" dirty="0"/>
              <a:t> </a:t>
            </a:r>
            <a:r>
              <a:rPr lang="en-US" sz="1200" i="1" dirty="0" err="1"/>
              <a:t>quả</a:t>
            </a:r>
            <a:endParaRPr lang="en-US" sz="1200" i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42445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23705-353A-513F-8632-9512665D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5A2D9-8337-74AC-7877-FA9EBDBC63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FADB5084-D410-0BB9-D67F-4EF9E2AC5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2EEFE777-ADCB-1D1C-9668-21044006C605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: </a:t>
            </a:r>
            <a:r>
              <a:rPr lang="vi-VN" sz="2000" dirty="0"/>
              <a:t>Hiện tại đang xếp PTXT vào nhóm Numeric. Tuy nhiên, trong tuyển sinh đại học, đây là biến Phân loại (</a:t>
            </a:r>
            <a:r>
              <a:rPr lang="vi-VN" sz="2000" b="1" dirty="0"/>
              <a:t>Categorical</a:t>
            </a:r>
            <a:r>
              <a:rPr lang="vi-VN" sz="2000" dirty="0"/>
              <a:t>). Ví dụ: 1 là Xét tuyển thẳng, 2 là Xét điểm thi THPT, 3 là Xét học bạ.</a:t>
            </a:r>
          </a:p>
          <a:p>
            <a:r>
              <a:rPr lang="vi-VN" sz="2000" dirty="0"/>
              <a:t>Nguy cơ: Nếu để nguyên dạng số, mô hình sẽ hiểu sai rằng Phương thức 3 "lớn hơn" Phương thức 1, dẫn đến học sai quy luật.</a:t>
            </a:r>
          </a:p>
          <a:p>
            <a:r>
              <a:rPr lang="vi-VN" sz="2000" dirty="0"/>
              <a:t>Hành động: Cần chuyển PTXT sang dạng </a:t>
            </a:r>
            <a:r>
              <a:rPr lang="vi-VN" sz="2000" b="1" dirty="0"/>
              <a:t>Categorical</a:t>
            </a:r>
            <a:r>
              <a:rPr lang="vi-VN" sz="2000" dirty="0"/>
              <a:t> (</a:t>
            </a:r>
            <a:r>
              <a:rPr lang="vi-VN" sz="2000" i="1" dirty="0"/>
              <a:t>One-Hot Encoding</a:t>
            </a:r>
            <a:r>
              <a:rPr lang="vi-VN" sz="2000" dirty="0"/>
              <a:t> hoặc </a:t>
            </a:r>
            <a:r>
              <a:rPr lang="vi-VN" sz="2000" i="1" dirty="0"/>
              <a:t>Label Encoding</a:t>
            </a:r>
            <a:r>
              <a:rPr lang="vi-VN" sz="2000" dirty="0"/>
              <a:t>).</a:t>
            </a:r>
          </a:p>
          <a:p>
            <a:pPr marL="114300" indent="0">
              <a:buFont typeface="Lato"/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2306488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6AB4-9D27-DCEC-71E1-BF7DECCD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A9EF5-F5B2-D180-4178-CD63757B6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157AFBBB-5D89-8A21-D569-EB4AB9A5A3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730AE473-66F8-04C3-C054-46213F3904D3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: DIEM_TRUNGTUYEN </a:t>
            </a:r>
            <a:r>
              <a:rPr lang="en-US" sz="2000" dirty="0" err="1"/>
              <a:t>có</a:t>
            </a:r>
            <a:r>
              <a:rPr lang="en-US" sz="2000" dirty="0"/>
              <a:t> Max = 59.06. Trong </a:t>
            </a:r>
            <a:r>
              <a:rPr lang="en-US" sz="2000" dirty="0" err="1"/>
              <a:t>khi</a:t>
            </a:r>
            <a:r>
              <a:rPr lang="en-US" sz="2000" dirty="0"/>
              <a:t> thang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thi</a:t>
            </a:r>
            <a:r>
              <a:rPr lang="en-US" sz="2000" dirty="0"/>
              <a:t> THPT Quốc </a:t>
            </a:r>
            <a:r>
              <a:rPr lang="en-US" sz="2000" dirty="0" err="1"/>
              <a:t>gia</a:t>
            </a:r>
            <a:r>
              <a:rPr lang="en-US" sz="2000" dirty="0"/>
              <a:t> (3 </a:t>
            </a:r>
            <a:r>
              <a:rPr lang="en-US" sz="2000" dirty="0" err="1"/>
              <a:t>môn</a:t>
            </a:r>
            <a:r>
              <a:rPr lang="en-US" sz="2000" dirty="0"/>
              <a:t>) </a:t>
            </a:r>
            <a:r>
              <a:rPr lang="en-US" sz="2000" dirty="0" err="1"/>
              <a:t>tối</a:t>
            </a:r>
            <a:r>
              <a:rPr lang="en-US" sz="2000" dirty="0"/>
              <a:t> </a:t>
            </a:r>
            <a:r>
              <a:rPr lang="en-US" sz="2000" dirty="0" err="1"/>
              <a:t>đa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30 (</a:t>
            </a:r>
            <a:r>
              <a:rPr lang="en-US" sz="2000" dirty="0" err="1"/>
              <a:t>hoặc</a:t>
            </a:r>
            <a:r>
              <a:rPr lang="en-US" sz="2000" dirty="0"/>
              <a:t> 40 </a:t>
            </a:r>
            <a:r>
              <a:rPr lang="en-US" sz="2000" dirty="0" err="1"/>
              <a:t>nếu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500" dirty="0"/>
              <a:t>Con </a:t>
            </a:r>
            <a:r>
              <a:rPr lang="en-US" sz="1500" dirty="0" err="1"/>
              <a:t>số</a:t>
            </a:r>
            <a:r>
              <a:rPr lang="en-US" sz="1500" dirty="0"/>
              <a:t> 59.06 </a:t>
            </a:r>
            <a:r>
              <a:rPr lang="en-US" sz="1500" dirty="0" err="1"/>
              <a:t>cho</a:t>
            </a:r>
            <a:r>
              <a:rPr lang="en-US" sz="1500" dirty="0"/>
              <a:t> </a:t>
            </a:r>
            <a:r>
              <a:rPr lang="en-US" sz="1500" dirty="0" err="1"/>
              <a:t>thấy</a:t>
            </a:r>
            <a:r>
              <a:rPr lang="en-US" sz="1500" dirty="0"/>
              <a:t> </a:t>
            </a:r>
            <a:r>
              <a:rPr lang="en-US" sz="1500" dirty="0" err="1"/>
              <a:t>dữ</a:t>
            </a:r>
            <a:r>
              <a:rPr lang="en-US" sz="1500" dirty="0"/>
              <a:t> </a:t>
            </a:r>
            <a:r>
              <a:rPr lang="en-US" sz="1500" dirty="0" err="1"/>
              <a:t>liệu</a:t>
            </a:r>
            <a:r>
              <a:rPr lang="en-US" sz="1500" dirty="0"/>
              <a:t> </a:t>
            </a:r>
            <a:r>
              <a:rPr lang="en-US" sz="1500" dirty="0" err="1"/>
              <a:t>đang</a:t>
            </a:r>
            <a:r>
              <a:rPr lang="en-US" sz="1500" dirty="0"/>
              <a:t> </a:t>
            </a:r>
            <a:r>
              <a:rPr lang="en-US" sz="1500" dirty="0" err="1"/>
              <a:t>trộn</a:t>
            </a:r>
            <a:r>
              <a:rPr lang="en-US" sz="1500" dirty="0"/>
              <a:t> </a:t>
            </a:r>
            <a:r>
              <a:rPr lang="en-US" sz="1500" dirty="0" err="1"/>
              <a:t>lẫn</a:t>
            </a:r>
            <a:r>
              <a:rPr lang="en-US" sz="1500" dirty="0"/>
              <a:t> </a:t>
            </a:r>
            <a:r>
              <a:rPr lang="en-US" sz="1500" dirty="0" err="1"/>
              <a:t>các</a:t>
            </a:r>
            <a:r>
              <a:rPr lang="en-US" sz="1500" dirty="0"/>
              <a:t> thang </a:t>
            </a:r>
            <a:r>
              <a:rPr lang="en-US" sz="1500" dirty="0" err="1"/>
              <a:t>điểm</a:t>
            </a:r>
            <a:r>
              <a:rPr lang="en-US" sz="1500" dirty="0"/>
              <a:t> </a:t>
            </a:r>
            <a:r>
              <a:rPr lang="en-US" sz="1500" dirty="0" err="1"/>
              <a:t>khác</a:t>
            </a:r>
            <a:r>
              <a:rPr lang="en-US" sz="1500" dirty="0"/>
              <a:t> </a:t>
            </a:r>
            <a:r>
              <a:rPr lang="en-US" sz="1500" dirty="0" err="1"/>
              <a:t>nhau</a:t>
            </a:r>
            <a:r>
              <a:rPr lang="en-US" sz="1500" dirty="0"/>
              <a:t>. </a:t>
            </a:r>
            <a:r>
              <a:rPr lang="en-US" sz="1500" dirty="0" err="1"/>
              <a:t>Có</a:t>
            </a:r>
            <a:r>
              <a:rPr lang="en-US" sz="1500" dirty="0"/>
              <a:t> </a:t>
            </a:r>
            <a:r>
              <a:rPr lang="en-US" sz="1500" dirty="0" err="1"/>
              <a:t>thể</a:t>
            </a:r>
            <a:r>
              <a:rPr lang="en-US" sz="1500" dirty="0"/>
              <a:t> bao </a:t>
            </a:r>
            <a:r>
              <a:rPr lang="en-US" sz="1500" dirty="0" err="1"/>
              <a:t>gồm</a:t>
            </a:r>
            <a:r>
              <a:rPr lang="en-US" sz="1500" dirty="0"/>
              <a:t> </a:t>
            </a:r>
            <a:r>
              <a:rPr lang="en-US" sz="1500" dirty="0" err="1"/>
              <a:t>cả</a:t>
            </a:r>
            <a:r>
              <a:rPr lang="en-US" sz="1500" dirty="0"/>
              <a:t> </a:t>
            </a:r>
            <a:r>
              <a:rPr lang="en-US" sz="1500" dirty="0" err="1"/>
              <a:t>điểm</a:t>
            </a:r>
            <a:r>
              <a:rPr lang="en-US" sz="1500" dirty="0"/>
              <a:t> "</a:t>
            </a:r>
            <a:r>
              <a:rPr lang="en-US" sz="1500" dirty="0" err="1"/>
              <a:t>Đánh</a:t>
            </a:r>
            <a:r>
              <a:rPr lang="en-US" sz="1500" dirty="0"/>
              <a:t> </a:t>
            </a:r>
            <a:r>
              <a:rPr lang="en-US" sz="1500" dirty="0" err="1"/>
              <a:t>giá</a:t>
            </a:r>
            <a:r>
              <a:rPr lang="en-US" sz="1500" dirty="0"/>
              <a:t> </a:t>
            </a:r>
            <a:r>
              <a:rPr lang="en-US" sz="1500" dirty="0" err="1"/>
              <a:t>năng</a:t>
            </a:r>
            <a:r>
              <a:rPr lang="en-US" sz="1500" dirty="0"/>
              <a:t> </a:t>
            </a:r>
            <a:r>
              <a:rPr lang="en-US" sz="1500" dirty="0" err="1"/>
              <a:t>lực</a:t>
            </a:r>
            <a:r>
              <a:rPr lang="en-US" sz="1500" dirty="0"/>
              <a:t>" (thang 1200 </a:t>
            </a:r>
            <a:r>
              <a:rPr lang="en-US" sz="1500" dirty="0" err="1"/>
              <a:t>quy</a:t>
            </a:r>
            <a:r>
              <a:rPr lang="en-US" sz="1500" dirty="0"/>
              <a:t> </a:t>
            </a:r>
            <a:r>
              <a:rPr lang="en-US" sz="1500" dirty="0" err="1"/>
              <a:t>đổi</a:t>
            </a:r>
            <a:r>
              <a:rPr lang="en-US" sz="1500" dirty="0"/>
              <a:t> </a:t>
            </a:r>
            <a:r>
              <a:rPr lang="en-US" sz="1500" dirty="0" err="1"/>
              <a:t>về</a:t>
            </a:r>
            <a:r>
              <a:rPr lang="en-US" sz="1500" dirty="0"/>
              <a:t> 100?) </a:t>
            </a:r>
            <a:r>
              <a:rPr lang="en-US" sz="1500" dirty="0" err="1"/>
              <a:t>hoặc</a:t>
            </a:r>
            <a:r>
              <a:rPr lang="en-US" sz="1500" dirty="0"/>
              <a:t> </a:t>
            </a:r>
            <a:r>
              <a:rPr lang="en-US" sz="1500" dirty="0" err="1"/>
              <a:t>điểm</a:t>
            </a:r>
            <a:r>
              <a:rPr lang="en-US" sz="1500" dirty="0"/>
              <a:t> </a:t>
            </a:r>
            <a:r>
              <a:rPr lang="en-US" sz="1500" dirty="0" err="1"/>
              <a:t>năng</a:t>
            </a:r>
            <a:r>
              <a:rPr lang="en-US" sz="1500" dirty="0"/>
              <a:t> </a:t>
            </a:r>
            <a:r>
              <a:rPr lang="en-US" sz="1500" dirty="0" err="1"/>
              <a:t>khiếu</a:t>
            </a:r>
            <a:r>
              <a:rPr lang="en-US" sz="1500" dirty="0"/>
              <a:t> </a:t>
            </a:r>
            <a:r>
              <a:rPr lang="en-US" sz="1500" dirty="0" err="1"/>
              <a:t>nhân</a:t>
            </a:r>
            <a:r>
              <a:rPr lang="en-US" sz="1500" dirty="0"/>
              <a:t> </a:t>
            </a:r>
            <a:r>
              <a:rPr lang="en-US" sz="1500" dirty="0" err="1"/>
              <a:t>hệ</a:t>
            </a:r>
            <a:r>
              <a:rPr lang="en-US" sz="1500" dirty="0"/>
              <a:t> </a:t>
            </a:r>
            <a:r>
              <a:rPr lang="en-US" sz="1500" dirty="0" err="1"/>
              <a:t>số</a:t>
            </a:r>
            <a:r>
              <a:rPr lang="en-US" sz="1500" dirty="0"/>
              <a:t> </a:t>
            </a:r>
            <a:r>
              <a:rPr lang="en-US" sz="1500" dirty="0" err="1"/>
              <a:t>lạ</a:t>
            </a:r>
            <a:r>
              <a:rPr lang="en-US" sz="1500" dirty="0"/>
              <a:t>.</a:t>
            </a:r>
          </a:p>
          <a:p>
            <a:pPr marL="114300" indent="0">
              <a:buFont typeface="Lato"/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2544334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DFC0-FF91-77F6-AE81-4ED5CD84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851C4-DCC7-F728-1E03-CC50A8CB5A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2D959-2F38-6382-17F3-F21DB12C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94" y="1243057"/>
            <a:ext cx="8580895" cy="22026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Google Shape;144;p19">
            <a:extLst>
              <a:ext uri="{FF2B5EF4-FFF2-40B4-BE49-F238E27FC236}">
                <a16:creationId xmlns:a16="http://schemas.microsoft.com/office/drawing/2014/main" id="{3D7E57C8-15C5-1FE1-3929-50B430FCFFEB}"/>
              </a:ext>
            </a:extLst>
          </p:cNvPr>
          <p:cNvSpPr txBox="1">
            <a:spLocks/>
          </p:cNvSpPr>
          <p:nvPr/>
        </p:nvSpPr>
        <p:spPr>
          <a:xfrm>
            <a:off x="3091524" y="3558323"/>
            <a:ext cx="2805972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 err="1"/>
              <a:t>Đồ</a:t>
            </a:r>
            <a:r>
              <a:rPr lang="en-US" sz="1200" i="1" dirty="0"/>
              <a:t> </a:t>
            </a:r>
            <a:r>
              <a:rPr lang="en-US" sz="1200" i="1" dirty="0" err="1"/>
              <a:t>thị</a:t>
            </a:r>
            <a:r>
              <a:rPr lang="en-US" sz="1200" i="1" dirty="0"/>
              <a:t> </a:t>
            </a:r>
            <a:r>
              <a:rPr lang="en-US" sz="1200" i="1" dirty="0" err="1"/>
              <a:t>của</a:t>
            </a:r>
            <a:r>
              <a:rPr lang="en-US" sz="1200" i="1" dirty="0"/>
              <a:t> TC_HOANTHANH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46867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37FFB-0973-7DEC-700C-174C2D68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24925-3695-09F6-4829-DCB0A8BDE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979AE828-96AB-9A1F-14B0-84E150CAE4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D99846FD-00A5-D38F-F821-2D9970D01C6E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vi-VN" sz="1500" dirty="0"/>
              <a:t>Dữ liệu: Mean (14.79)  ≈  Median (15.00)  →  Nhìn sơ qua tưởng là phân phối chuẩn (Normal Distribution).</a:t>
            </a:r>
          </a:p>
          <a:p>
            <a:r>
              <a:rPr lang="vi-VN" sz="1500" dirty="0"/>
              <a:t>Nhưng: Skewness = -0.41 (Lệch trái) và Risk Group = 20.81%.</a:t>
            </a:r>
          </a:p>
          <a:p>
            <a:r>
              <a:rPr lang="vi-VN" sz="1500" dirty="0"/>
              <a:t>Insight: Đây không phải là một đường cong hình chuông hoàn hảo. Nó là sự chồng lấn của 2 nhóm đối tượng:</a:t>
            </a:r>
          </a:p>
          <a:p>
            <a:r>
              <a:rPr lang="vi-VN" sz="1500" dirty="0"/>
              <a:t>Nhóm "Học ổn": Tập trung quanh mức 15-20 tín chỉ (đa số).</a:t>
            </a:r>
          </a:p>
          <a:p>
            <a:r>
              <a:rPr lang="vi-VN" sz="1500" dirty="0"/>
              <a:t>Nhóm "Gặp nạn" (The Strugglers): Một cái đuôi dài kéo về phía bên trái (0-10 tín).</a:t>
            </a:r>
          </a:p>
          <a:p>
            <a:r>
              <a:rPr lang="vi-VN" sz="1500" dirty="0"/>
              <a:t>Kết luận: Mô hình máy học (Model) sẽ rất dễ dự đoán tốt cho nhóm "Học ổn" nhưng dự đoán sai lệch (Over-predict) cho nhóm "Gặp nạn".</a:t>
            </a:r>
          </a:p>
        </p:txBody>
      </p:sp>
    </p:spTree>
    <p:extLst>
      <p:ext uri="{BB962C8B-B14F-4D97-AF65-F5344CB8AC3E}">
        <p14:creationId xmlns:p14="http://schemas.microsoft.com/office/powerpoint/2010/main" val="2464055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5EB39-0D68-BE30-72F9-58BD83B15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09E7A-D13D-DC6E-3038-061D80E13B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C2C22CFD-3FF2-5029-654B-B047A01C89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ADFBDDAE-5FE1-F6AF-FDED-1653E24983A9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: </a:t>
            </a:r>
            <a:r>
              <a:rPr lang="vi-VN" sz="2000" dirty="0"/>
              <a:t>"Báo động Đỏ" ở ngưỡng 20% (The 20% Danger Zone)</a:t>
            </a:r>
          </a:p>
          <a:p>
            <a:r>
              <a:rPr lang="vi-VN" sz="2000" dirty="0"/>
              <a:t>Dữ liệu: Risk Group (&lt;=10 tín) chiếm tới 20.81%.</a:t>
            </a:r>
          </a:p>
          <a:p>
            <a:r>
              <a:rPr lang="vi-VN" sz="2000" dirty="0"/>
              <a:t>Insight: Cứ 5 sinh viên thì có 1 người hoàn thành  ≤10  tín chỉ/kỳ. 10 tín chỉ thường chỉ tương đương 3 môn học. Đây là mức hiệu suất cực thấp, tiệm cận với cảnh báo học vụ.</a:t>
            </a:r>
          </a:p>
          <a:p>
            <a:r>
              <a:rPr lang="vi-VN" sz="2000" dirty="0"/>
              <a:t>Kết luận: Đây chính là nhóm Target quan trọng nhất. Nếu xây dựng mô hình dự báo rủi ro (Risk Prediction), độ chính xác trên nhóm 20% này mới là thước đo thành công, chứ không phải độ chính xác tổng thể (Accuracy).</a:t>
            </a:r>
          </a:p>
        </p:txBody>
      </p:sp>
    </p:spTree>
    <p:extLst>
      <p:ext uri="{BB962C8B-B14F-4D97-AF65-F5344CB8AC3E}">
        <p14:creationId xmlns:p14="http://schemas.microsoft.com/office/powerpoint/2010/main" val="1847397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500F-0DD8-BDDC-5C5B-CFE74BD5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3009E-E6AE-0C11-569B-C89B6E1142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sp>
        <p:nvSpPr>
          <p:cNvPr id="2" name="Google Shape;143;p19">
            <a:extLst>
              <a:ext uri="{FF2B5EF4-FFF2-40B4-BE49-F238E27FC236}">
                <a16:creationId xmlns:a16="http://schemas.microsoft.com/office/drawing/2014/main" id="{B68E7216-72CE-3674-A488-89643520D3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" name="Google Shape;144;p19">
            <a:extLst>
              <a:ext uri="{FF2B5EF4-FFF2-40B4-BE49-F238E27FC236}">
                <a16:creationId xmlns:a16="http://schemas.microsoft.com/office/drawing/2014/main" id="{2CE61690-D5AC-C868-8415-6643FACE1CA2}"/>
              </a:ext>
            </a:extLst>
          </p:cNvPr>
          <p:cNvSpPr txBox="1">
            <a:spLocks/>
          </p:cNvSpPr>
          <p:nvPr/>
        </p:nvSpPr>
        <p:spPr>
          <a:xfrm>
            <a:off x="649663" y="1148537"/>
            <a:ext cx="8261862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: </a:t>
            </a:r>
            <a:r>
              <a:rPr lang="vi-VN" sz="2000" dirty="0"/>
              <a:t>Hiện tại đang xếp PTXT vào nhóm Numeric. Tuy nhiên, trong tuyển sinh đại học, đây là biến Phân loại (</a:t>
            </a:r>
            <a:r>
              <a:rPr lang="vi-VN" sz="2000" b="1" dirty="0"/>
              <a:t>Categorical</a:t>
            </a:r>
            <a:r>
              <a:rPr lang="vi-VN" sz="2000" dirty="0"/>
              <a:t>). Ví dụ: 1 là Xét tuyển thẳng, 2 là Xét điểm thi THPT, 3 là Xét học bạ.</a:t>
            </a:r>
          </a:p>
          <a:p>
            <a:r>
              <a:rPr lang="vi-VN" sz="2000" dirty="0"/>
              <a:t>Nguy cơ: Nếu để nguyên dạng số, mô hình sẽ hiểu sai rằng Phương thức 3 "lớn hơn" Phương thức 1, dẫn đến học sai quy luật.</a:t>
            </a:r>
          </a:p>
          <a:p>
            <a:r>
              <a:rPr lang="vi-VN" sz="2000" dirty="0"/>
              <a:t>Hành động: Cần chuyển PTXT sang dạng </a:t>
            </a:r>
            <a:r>
              <a:rPr lang="vi-VN" sz="2000" b="1" dirty="0"/>
              <a:t>Categorical</a:t>
            </a:r>
            <a:r>
              <a:rPr lang="vi-VN" sz="2000" dirty="0"/>
              <a:t> (</a:t>
            </a:r>
            <a:r>
              <a:rPr lang="vi-VN" sz="2000" i="1" dirty="0"/>
              <a:t>One-Hot Encoding</a:t>
            </a:r>
            <a:r>
              <a:rPr lang="vi-VN" sz="2000" dirty="0"/>
              <a:t> hoặc </a:t>
            </a:r>
            <a:r>
              <a:rPr lang="vi-VN" sz="2000" i="1" dirty="0"/>
              <a:t>Label Encoding</a:t>
            </a:r>
            <a:r>
              <a:rPr lang="vi-VN" sz="2000" dirty="0"/>
              <a:t>).</a:t>
            </a:r>
          </a:p>
          <a:p>
            <a:pPr marL="114300" indent="0">
              <a:buFont typeface="Lato"/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1164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5181-813C-29ED-5359-8E8C2409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75781-74D5-F81F-9B66-01D8767A79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C34DC-3DA0-3F95-F20C-69361431E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82" y="1191510"/>
            <a:ext cx="8384583" cy="21302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Google Shape;144;p19">
            <a:extLst>
              <a:ext uri="{FF2B5EF4-FFF2-40B4-BE49-F238E27FC236}">
                <a16:creationId xmlns:a16="http://schemas.microsoft.com/office/drawing/2014/main" id="{39B2A482-1380-E425-9B0D-AB06F57B3149}"/>
              </a:ext>
            </a:extLst>
          </p:cNvPr>
          <p:cNvSpPr txBox="1">
            <a:spLocks/>
          </p:cNvSpPr>
          <p:nvPr/>
        </p:nvSpPr>
        <p:spPr>
          <a:xfrm>
            <a:off x="1899638" y="3496331"/>
            <a:ext cx="5504869" cy="56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Lato"/>
              <a:buChar char="▷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14300" indent="0" algn="ctr">
              <a:buFont typeface="Lato"/>
              <a:buNone/>
            </a:pPr>
            <a:r>
              <a:rPr lang="en-US" sz="1200" i="1" dirty="0" err="1"/>
              <a:t>Phân</a:t>
            </a:r>
            <a:r>
              <a:rPr lang="en-US" sz="1200" i="1" dirty="0"/>
              <a:t> </a:t>
            </a:r>
            <a:r>
              <a:rPr lang="en-US" sz="1200" i="1" dirty="0" err="1"/>
              <a:t>phối</a:t>
            </a:r>
            <a:r>
              <a:rPr lang="en-US" sz="1200" i="1" dirty="0"/>
              <a:t> </a:t>
            </a:r>
            <a:r>
              <a:rPr lang="en-US" sz="1200" i="1" dirty="0" err="1"/>
              <a:t>điểm</a:t>
            </a:r>
            <a:r>
              <a:rPr lang="en-US" sz="1200" i="1" dirty="0"/>
              <a:t> </a:t>
            </a:r>
            <a:r>
              <a:rPr lang="en-US" sz="1200" i="1" dirty="0" err="1"/>
              <a:t>giữa</a:t>
            </a:r>
            <a:r>
              <a:rPr lang="en-US" sz="1200" i="1" dirty="0"/>
              <a:t> </a:t>
            </a:r>
            <a:r>
              <a:rPr lang="en-US" sz="1200" i="1" dirty="0" err="1"/>
              <a:t>các</a:t>
            </a:r>
            <a:r>
              <a:rPr lang="en-US" sz="1200" i="1" dirty="0"/>
              <a:t> </a:t>
            </a:r>
            <a:r>
              <a:rPr lang="en-US" sz="1200" i="1" dirty="0" err="1"/>
              <a:t>năm</a:t>
            </a:r>
            <a:r>
              <a:rPr lang="en-US" sz="1200" i="1" dirty="0"/>
              <a:t>, </a:t>
            </a:r>
            <a:r>
              <a:rPr lang="en-US" sz="1200" i="1" dirty="0" err="1"/>
              <a:t>cùng</a:t>
            </a:r>
            <a:r>
              <a:rPr lang="en-US" sz="1200" i="1" dirty="0"/>
              <a:t> </a:t>
            </a:r>
            <a:r>
              <a:rPr lang="en-US" sz="1200" i="1" dirty="0" err="1"/>
              <a:t>với</a:t>
            </a:r>
            <a:r>
              <a:rPr lang="en-US" sz="1200" i="1" dirty="0"/>
              <a:t> </a:t>
            </a:r>
            <a:r>
              <a:rPr lang="en-US" sz="1200" i="1" dirty="0" err="1"/>
              <a:t>đường</a:t>
            </a:r>
            <a:r>
              <a:rPr lang="en-US" sz="1200" i="1" dirty="0"/>
              <a:t> </a:t>
            </a:r>
            <a:r>
              <a:rPr lang="en-US" sz="1200" i="1" dirty="0" err="1"/>
              <a:t>đỏ</a:t>
            </a:r>
            <a:r>
              <a:rPr lang="en-US" sz="1200" i="1" dirty="0"/>
              <a:t> </a:t>
            </a:r>
            <a:r>
              <a:rPr lang="en-US" sz="1200" i="1" dirty="0" err="1"/>
              <a:t>thể</a:t>
            </a:r>
            <a:r>
              <a:rPr lang="en-US" sz="1200" i="1" dirty="0"/>
              <a:t> </a:t>
            </a:r>
            <a:r>
              <a:rPr lang="en-US" sz="1200" i="1" dirty="0" err="1"/>
              <a:t>hiện</a:t>
            </a:r>
            <a:r>
              <a:rPr lang="en-US" sz="1200" i="1" dirty="0"/>
              <a:t> </a:t>
            </a:r>
            <a:r>
              <a:rPr lang="en-US" sz="1200" i="1" dirty="0" err="1"/>
              <a:t>các</a:t>
            </a:r>
            <a:r>
              <a:rPr lang="en-US" sz="1200" i="1" dirty="0"/>
              <a:t> </a:t>
            </a:r>
            <a:r>
              <a:rPr lang="en-US" sz="1200" i="1" dirty="0" err="1"/>
              <a:t>học</a:t>
            </a:r>
            <a:r>
              <a:rPr lang="en-US" sz="1200" i="1" dirty="0"/>
              <a:t> </a:t>
            </a:r>
            <a:r>
              <a:rPr lang="en-US" sz="1200" i="1" dirty="0" err="1"/>
              <a:t>sinh</a:t>
            </a:r>
            <a:r>
              <a:rPr lang="en-US" sz="1200" i="1" dirty="0"/>
              <a:t> </a:t>
            </a:r>
            <a:r>
              <a:rPr lang="en-US" sz="1200" i="1" dirty="0" err="1"/>
              <a:t>rủi</a:t>
            </a:r>
            <a:r>
              <a:rPr lang="en-US" sz="1200" i="1" dirty="0"/>
              <a:t> </a:t>
            </a:r>
            <a:r>
              <a:rPr lang="en-US" sz="1200" i="1" dirty="0" err="1"/>
              <a:t>ro</a:t>
            </a:r>
            <a:r>
              <a:rPr lang="en-US" sz="1200" i="1" dirty="0"/>
              <a:t>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51610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0374E-BCC3-63A3-FF3C-D5469CCA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135C7-71EC-9B98-1934-577DCD3F56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2DFC0C-CBCF-4C88-D9FA-358F69A7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78" y="609733"/>
            <a:ext cx="8293243" cy="16787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B37F90-3CC1-C588-5F7C-978F16C9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78" y="2649466"/>
            <a:ext cx="8293243" cy="18372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36559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ctrTitle"/>
          </p:nvPr>
        </p:nvSpPr>
        <p:spPr>
          <a:xfrm>
            <a:off x="685800" y="19918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4</a:t>
            </a:r>
            <a:endParaRPr sz="7200" dirty="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268" name="Google Shape;268;p31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body" idx="1"/>
          </p:nvPr>
        </p:nvSpPr>
        <p:spPr>
          <a:xfrm>
            <a:off x="580350" y="1103350"/>
            <a:ext cx="7983300" cy="35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▷"/>
            </a:pPr>
            <a:endParaRPr sz="1800" dirty="0"/>
          </a:p>
        </p:txBody>
      </p:sp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4255350" y="1499025"/>
            <a:ext cx="4308300" cy="152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Lato"/>
              <a:buChar char="▷"/>
            </a:pPr>
            <a:endParaRPr sz="1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2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title"/>
          </p:nvPr>
        </p:nvSpPr>
        <p:spPr>
          <a:xfrm>
            <a:off x="598350" y="3668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Setup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7977-5A86-E304-A604-767C35342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FA66F-E5A0-DF76-017F-7CED24C770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6807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>
            <a:spLocks noGrp="1"/>
          </p:cNvSpPr>
          <p:nvPr>
            <p:ph type="ctrTitle"/>
          </p:nvPr>
        </p:nvSpPr>
        <p:spPr>
          <a:xfrm>
            <a:off x="685800" y="19918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2"/>
                </a:solidFill>
              </a:rPr>
              <a:t>5</a:t>
            </a:r>
            <a:endParaRPr sz="7200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317" name="Google Shape;317;p37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FFFFFF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1553</Words>
  <Application>Microsoft Office PowerPoint</Application>
  <PresentationFormat>On-screen Show (16:9)</PresentationFormat>
  <Paragraphs>170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Raleway</vt:lpstr>
      <vt:lpstr>Lato</vt:lpstr>
      <vt:lpstr>Courier New</vt:lpstr>
      <vt:lpstr>Antonio template</vt:lpstr>
      <vt:lpstr>Nhóm 8: TheGroundUP</vt:lpstr>
      <vt:lpstr>Nhiệm vụ:</vt:lpstr>
      <vt:lpstr>1 THU TẬP DATA</vt:lpstr>
      <vt:lpstr>PowerPoint Presentation</vt:lpstr>
      <vt:lpstr>PowerPoint Presentation</vt:lpstr>
      <vt:lpstr>PowerPoint Presentation</vt:lpstr>
      <vt:lpstr>PowerPoint Presentation</vt:lpstr>
      <vt:lpstr>3 DATA CLEANING/FIXING</vt:lpstr>
      <vt:lpstr>Cleaning</vt:lpstr>
      <vt:lpstr>PowerPoint Presentation</vt:lpstr>
      <vt:lpstr>Key Findings</vt:lpstr>
      <vt:lpstr>Methodology</vt:lpstr>
      <vt:lpstr>PowerPoint Presentation</vt:lpstr>
      <vt:lpstr>PowerPoint Presentation</vt:lpstr>
      <vt:lpstr>Cleaning</vt:lpstr>
      <vt:lpstr>Cleaning</vt:lpstr>
      <vt:lpstr>3 PHÂN TÍCH DATA</vt:lpstr>
      <vt:lpstr>PowerPoint Presentation</vt:lpstr>
      <vt:lpstr>PowerPoint Presentation</vt:lpstr>
      <vt:lpstr>Analysis</vt:lpstr>
      <vt:lpstr>Analysis</vt:lpstr>
      <vt:lpstr>Analysis</vt:lpstr>
      <vt:lpstr>Analysis</vt:lpstr>
      <vt:lpstr>PowerPoint Presentation</vt:lpstr>
      <vt:lpstr>PowerPoint Presentation</vt:lpstr>
      <vt:lpstr>Analysis</vt:lpstr>
      <vt:lpstr>Analysis</vt:lpstr>
      <vt:lpstr>PowerPoint Presentation</vt:lpstr>
      <vt:lpstr>Analysis</vt:lpstr>
      <vt:lpstr>Analysis</vt:lpstr>
      <vt:lpstr>Analysis</vt:lpstr>
      <vt:lpstr>PowerPoint Presentation</vt:lpstr>
      <vt:lpstr>PowerPoint Presentation</vt:lpstr>
      <vt:lpstr>4 MACHINE LEARNING</vt:lpstr>
      <vt:lpstr>PowerPoint Presentation</vt:lpstr>
      <vt:lpstr>PowerPoint Presentation</vt:lpstr>
      <vt:lpstr>5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LUONG BAO HUY</cp:lastModifiedBy>
  <cp:revision>5</cp:revision>
  <dcterms:modified xsi:type="dcterms:W3CDTF">2026-02-04T16:51:35Z</dcterms:modified>
</cp:coreProperties>
</file>